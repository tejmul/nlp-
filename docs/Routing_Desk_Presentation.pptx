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e8c7404f-63f4-5464-a1df-b5ba84fd2633}">
          <p14:sldIdLst>
            <p14:sldId id="256"/>
            <p14:sldId id="257"/>
            <p14:sldId id="258"/>
          </p14:sldIdLst>
        </p14:section>
        <p14:section name="Our solution" id="{8a7f9f35-5bbd-3596-5532-4385ef4044bf}">
          <p14:sldIdLst>
            <p14:sldId id="259"/>
          </p14:sldIdLst>
        </p14:section>
        <p14:section name="Data" id="{418d52d2-9f69-a920-01a0-a3392dcbbfb3}">
          <p14:sldIdLst>
            <p14:sldId id="260"/>
            <p14:sldId id="261"/>
          </p14:sldIdLst>
        </p14:section>
        <p14:section name="How it works" id="{5df689d7-bab8-18ac-aa1a-155e2ddf4166}">
          <p14:sldIdLst>
            <p14:sldId id="262"/>
            <p14:sldId id="263"/>
          </p14:sldIdLst>
        </p14:section>
        <p14:section name="Results" id="{8fa3e01d-21f5-9b66-2cab-508ccaced016}">
          <p14:sldIdLst>
            <p14:sldId id="264"/>
            <p14:sldId id="265"/>
            <p14:sldId id="266"/>
          </p14:sldIdLst>
        </p14:section>
        <p14:section name="Product" id="{b0a45923-6c7a-340a-a7fc-e4e7fafb45f8}">
          <p14:sldIdLst>
            <p14:sldId id="267"/>
            <p14:sldId id="268"/>
            <p14:sldId id="269"/>
            <p14:sldId id="270"/>
          </p14:sldIdLst>
        </p14:section>
        <p14:section name="Next steps" id="{be6bc81a-1ae8-42ac-dc29-f06083132bbf}">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Training</c:v>
                </c:pt>
              </c:strCache>
            </c:strRef>
          </c:tx>
          <c:spPr>
            <a:solidFill>
              <a:srgbClr val="0E1726"/>
            </a:solidFill>
            <a:effectLst/>
          </c:spPr>
          <c:invertIfNegative val="0"/>
          <c:dLbls>
            <c:numFmt formatCode="#,##0" sourceLinked="0"/>
            <c:txPr>
              <a:bodyPr/>
              <a:lstStyle/>
              <a:p>
                <a:pPr>
                  <a:defRPr b="0" i="0" strike="noStrike" sz="1200" u="none">
                    <a:solidFill>
                      <a:srgbClr val="0E172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Payments</c:v>
                  </c:pt>
                  <c:pt idx="1">
                    <c:v>Cards</c:v>
                  </c:pt>
                  <c:pt idx="2">
                    <c:v>Account issues</c:v>
                  </c:pt>
                  <c:pt idx="3">
                    <c:v>Fraud</c:v>
                  </c:pt>
                  <c:pt idx="4">
                    <c:v>Loans</c:v>
                  </c:pt>
                </c:lvl>
              </c:multiLvlStrCache>
            </c:multiLvlStrRef>
          </c:cat>
          <c:val>
            <c:numRef>
              <c:f>Sheet1!$B$2:$B$6</c:f>
              <c:numCache>
                <c:formatCode>General</c:formatCode>
                <c:ptCount val="5"/>
                <c:pt idx="0">
                  <c:v>5338</c:v>
                </c:pt>
                <c:pt idx="1">
                  <c:v>2701</c:v>
                </c:pt>
                <c:pt idx="2">
                  <c:v>1137</c:v>
                </c:pt>
                <c:pt idx="3">
                  <c:v>799</c:v>
                </c:pt>
                <c:pt idx="4">
                  <c:v>544</c:v>
                </c:pt>
              </c:numCache>
            </c:numRef>
          </c:val>
        </c:ser>
        <c:ser>
          <c:idx val="1"/>
          <c:order val="1"/>
          <c:tx>
            <c:strRef>
              <c:f>Sheet1!$C$1</c:f>
              <c:strCache>
                <c:ptCount val="1"/>
                <c:pt idx="0">
                  <c:v>Test</c:v>
                </c:pt>
              </c:strCache>
            </c:strRef>
          </c:tx>
          <c:spPr>
            <a:solidFill>
              <a:srgbClr val="A5B4FC"/>
            </a:solidFill>
            <a:effectLst/>
          </c:spPr>
          <c:invertIfNegative val="0"/>
          <c:dLbls>
            <c:numFmt formatCode="#,##0" sourceLinked="0"/>
            <c:txPr>
              <a:bodyPr/>
              <a:lstStyle/>
              <a:p>
                <a:pPr>
                  <a:defRPr b="0" i="0" strike="noStrike" sz="1200" u="none">
                    <a:solidFill>
                      <a:srgbClr val="0E172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Payments</c:v>
                  </c:pt>
                  <c:pt idx="1">
                    <c:v>Cards</c:v>
                  </c:pt>
                  <c:pt idx="2">
                    <c:v>Account issues</c:v>
                  </c:pt>
                  <c:pt idx="3">
                    <c:v>Fraud</c:v>
                  </c:pt>
                  <c:pt idx="4">
                    <c:v>Loans</c:v>
                  </c:pt>
                </c:lvl>
              </c:multiLvlStrCache>
            </c:multiLvlStrRef>
          </c:cat>
          <c:val>
            <c:numRef>
              <c:f>Sheet1!$C$2:$C$6</c:f>
              <c:numCache>
                <c:formatCode>General</c:formatCode>
                <c:ptCount val="5"/>
                <c:pt idx="0">
                  <c:v>1480</c:v>
                </c:pt>
                <c:pt idx="1">
                  <c:v>959</c:v>
                </c:pt>
                <c:pt idx="2">
                  <c:v>400</c:v>
                </c:pt>
                <c:pt idx="3">
                  <c:v>240</c:v>
                </c:pt>
                <c:pt idx="4">
                  <c:v>113</c:v>
                </c:pt>
              </c:numCache>
            </c:numRef>
          </c:val>
        </c:ser>
        <c:dLbls>
          <c:numFmt formatCode="#,##0" sourceLinked="0"/>
          <c:txPr>
            <a:bodyPr/>
            <a:lstStyle/>
            <a:p>
              <a:pPr>
                <a:defRPr b="0" i="0" strike="noStrike" sz="1200" u="none">
                  <a:solidFill>
                    <a:srgbClr val="0E1726"/>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726"/>
                </a:solidFill>
                <a:latin typeface="Calibri"/>
              </a:defRPr>
            </a:pPr>
            <a:r>
              <a:rPr sz="1400" b="0" i="0" u="none" strike="noStrike">
                <a:solidFill>
                  <a:srgbClr val="0E1726"/>
                </a:solidFill>
                <a:latin typeface="Calibri"/>
              </a:rPr>
              <a:t>Accuracy on the 3,192 test messages</a:t>
            </a:r>
          </a:p>
        </c:rich>
      </c:tx>
      <c:layout/>
      <c:overlay val="0"/>
    </c:title>
    <c:autoTitleDeleted val="0"/>
    <c:plotArea>
      <c:layout/>
      <c:barChart>
        <c:barDir val="bar"/>
        <c:grouping val="clustered"/>
        <c:varyColors val="0"/>
        <c:ser>
          <c:idx val="0"/>
          <c:order val="0"/>
          <c:tx>
            <c:strRef>
              <c:f>Sheet1!$B$1</c:f>
              <c:strCache>
                <c:ptCount val="1"/>
                <c:pt idx="0">
                  <c:v>Final test accuracy</c:v>
                </c:pt>
              </c:strCache>
            </c:strRef>
          </c:tx>
          <c:spPr>
            <a:solidFill>
              <a:srgbClr val="94A3B8"/>
            </a:solidFill>
            <a:effectLst/>
          </c:spPr>
          <c:invertIfNegative val="0"/>
          <c:dLbls>
            <c:numFmt formatCode="0.0&quot;%&quot;" sourceLinked="0"/>
            <c:txPr>
              <a:bodyPr/>
              <a:lstStyle/>
              <a:p>
                <a:pPr>
                  <a:defRPr b="0" i="0" strike="noStrike" sz="1200" u="none">
                    <a:solidFill>
                      <a:srgbClr val="0E1726"/>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4F46E5"/>
              </a:solidFill>
              <a:effectLst/>
            </c:spPr>
          </c:dPt>
          <c:cat>
            <c:multiLvlStrRef>
              <c:f>Sheet1!$A$2:$A$5</c:f>
              <c:multiLvlStrCache>
                <c:ptCount val="4"/>
                <c:lvl>
                  <c:pt idx="0">
                    <c:v>Always guess the biggest category</c:v>
                  </c:pt>
                  <c:pt idx="1">
                    <c:v>Complement Naive Bayes</c:v>
                  </c:pt>
                  <c:pt idx="2">
                    <c:v>Linear SVM</c:v>
                  </c:pt>
                  <c:pt idx="3">
                    <c:v>Logistic Regression (chosen)</c:v>
                  </c:pt>
                </c:lvl>
              </c:multiLvlStrCache>
            </c:multiLvlStrRef>
          </c:cat>
          <c:val>
            <c:numRef>
              <c:f>Sheet1!$B$2:$B$5</c:f>
              <c:numCache>
                <c:formatCode>General</c:formatCode>
                <c:ptCount val="4"/>
                <c:pt idx="0">
                  <c:v>46.4</c:v>
                </c:pt>
                <c:pt idx="1">
                  <c:v>95.3</c:v>
                </c:pt>
                <c:pt idx="2">
                  <c:v>96.7</c:v>
                </c:pt>
                <c:pt idx="3">
                  <c:v>97.3</c:v>
                </c:pt>
              </c:numCache>
            </c:numRef>
          </c:val>
        </c:ser>
        <c:dLbls>
          <c:numFmt formatCode="0.0&quot;%&quot;" sourceLinked="0"/>
          <c:txPr>
            <a:bodyPr/>
            <a:lstStyle/>
            <a:p>
              <a:pPr>
                <a:defRPr b="0" i="0" strike="noStrike" sz="1200" u="none">
                  <a:solidFill>
                    <a:srgbClr val="0E172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Caught</c:v>
                </c:pt>
              </c:strCache>
            </c:strRef>
          </c:tx>
          <c:spPr>
            <a:solidFill>
              <a:srgbClr val="00806A"/>
            </a:solidFill>
            <a:effectLst/>
          </c:spPr>
          <c:invertIfNegative val="0"/>
          <c:dLbls>
            <c:numFmt formatCode="0.0&quot;%&quot;" sourceLinked="0"/>
            <c:txPr>
              <a:bodyPr/>
              <a:lstStyle/>
              <a:p>
                <a:pPr>
                  <a:defRPr b="0" i="0" strike="noStrike" sz="1200" u="none">
                    <a:solidFill>
                      <a:srgbClr val="0E1726"/>
                    </a:solidFill>
                    <a:latin typeface="Calibri"/>
                  </a:defRPr>
                </a:pPr>
              </a:p>
            </c:txPr>
            <c:showLegendKey val="0"/>
            <c:showVal val="1"/>
            <c:showCatName val="0"/>
            <c:showSerName val="0"/>
            <c:showPercent val="0"/>
            <c:showBubbleSize val="0"/>
            <c:showLeaderLines val="0"/>
          </c:dLbls>
          <c:dPt>
            <c:idx val="0"/>
            <c:invertIfNegative val="0"/>
            <c:bubble3D val="0"/>
            <c:spPr>
              <a:solidFill>
                <a:srgbClr val="00806A"/>
              </a:solidFill>
              <a:effectLst/>
            </c:spPr>
          </c:dPt>
          <c:dPt>
            <c:idx val="1"/>
            <c:invertIfNegative val="0"/>
            <c:bubble3D val="0"/>
            <c:spPr>
              <a:solidFill>
                <a:srgbClr val="2B4FD8"/>
              </a:solidFill>
              <a:effectLst/>
            </c:spPr>
          </c:dPt>
          <c:dPt>
            <c:idx val="2"/>
            <c:invertIfNegative val="0"/>
            <c:bubble3D val="0"/>
            <c:spPr>
              <a:solidFill>
                <a:srgbClr val="A86B12"/>
              </a:solidFill>
              <a:effectLst/>
            </c:spPr>
          </c:dPt>
          <c:dPt>
            <c:idx val="3"/>
            <c:invertIfNegative val="0"/>
            <c:bubble3D val="0"/>
            <c:spPr>
              <a:solidFill>
                <a:srgbClr val="7A3E9D"/>
              </a:solidFill>
              <a:effectLst/>
            </c:spPr>
          </c:dPt>
          <c:dPt>
            <c:idx val="4"/>
            <c:invertIfNegative val="0"/>
            <c:bubble3D val="0"/>
            <c:spPr>
              <a:solidFill>
                <a:srgbClr val="C81E33"/>
              </a:solidFill>
              <a:effectLst/>
            </c:spPr>
          </c:dPt>
          <c:cat>
            <c:multiLvlStrRef>
              <c:f>Sheet1!$A$2:$A$6</c:f>
              <c:multiLvlStrCache>
                <c:ptCount val="5"/>
                <c:lvl>
                  <c:pt idx="0">
                    <c:v>Payments</c:v>
                  </c:pt>
                  <c:pt idx="1">
                    <c:v>Cards</c:v>
                  </c:pt>
                  <c:pt idx="2">
                    <c:v>Loans</c:v>
                  </c:pt>
                  <c:pt idx="3">
                    <c:v>Account issues</c:v>
                  </c:pt>
                  <c:pt idx="4">
                    <c:v>Fraud</c:v>
                  </c:pt>
                </c:lvl>
              </c:multiLvlStrCache>
            </c:multiLvlStrRef>
          </c:cat>
          <c:val>
            <c:numRef>
              <c:f>Sheet1!$B$2:$B$6</c:f>
              <c:numCache>
                <c:formatCode>General</c:formatCode>
                <c:ptCount val="5"/>
                <c:pt idx="0">
                  <c:v>96.6</c:v>
                </c:pt>
                <c:pt idx="1">
                  <c:v>97.9</c:v>
                </c:pt>
                <c:pt idx="2">
                  <c:v>100</c:v>
                </c:pt>
                <c:pt idx="3">
                  <c:v>98.8</c:v>
                </c:pt>
                <c:pt idx="4">
                  <c:v>95.8</c:v>
                </c:pt>
              </c:numCache>
            </c:numRef>
          </c:val>
        </c:ser>
        <c:dLbls>
          <c:numFmt formatCode="0.0&quot;%&quot;" sourceLinked="0"/>
          <c:txPr>
            <a:bodyPr/>
            <a:lstStyle/>
            <a:p>
              <a:pPr>
                <a:defRPr b="0" i="0" strike="noStrike" sz="1200" u="none">
                  <a:solidFill>
                    <a:srgbClr val="0E172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1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Desk reads a customer's message to a bank, works out what it is about, and sends it to the right team. It sorts messages into the five categories from our problem statement: payments, cards, loans, account issues and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bank's inbox as one long queue. Someone has to read every message and pass it to the right team. That is slow, it is boring work, mistakes send customers to the wrong team, and an urgent fraud report waits behind ordinary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official problem statement. It asks for four things: understand the customer's words, classify the message into one of five categories, route it to the right department, and in doing so reduce manual effort and improve response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to one message. First we hide personal details. Then the system works out the category and the exact topic. Then the bank's rules are applied as a safety net. Finally a ticket goes to the right team with a deadline. It works like a post office sorting desk, but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data is Banking77: 13,083 real messages, 10,003 for training and 3,080 for testing, labelled with 77 topics. We grouped those topics into our five categories. Banking77 has no loan questions, so we wrote 60 loan templates across 6 loan topics. That gives 83 topics in total. We're honest that the loan data is cleaner than real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cleaning we had 10,519 messages to learn from and 3,192 for the final test. Payments is about half of the training data and loans and fraud are small, so we told the system to give every category equal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doesn't understand words the way people do. It learns patterns. It first hides personal details and tidies the text, then looks at single words, pairs of words and small chunks of letters, which helps with typos. Two models use those patterns: one picks the category, one picks the exact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four approaches. The simplest possible guess, always picking the biggest category, gets 46.4 percent. Logistic Regression won with 97.3 percent on the final test. Importantly, we chose it on practice rounds inside the training data, not on the test, so the test result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3,192 messages it had never seen, the system put 97.3 percent in the right category: 3,107 right and 85 wrong. It caught 230 of 240 fraud messages. For the 83 detailed topics it is exactly right 90 percent of the time, and the right topic is in its top three guesses 96.7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what a message really was; each column is what the system said. The diagonal is correct. The largest mix-up is payments read as cards, which often use the same words. 10 fraud messages were missed, which is why we added a fraud safety net, shown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alone isn't enough for a bank, so we added safety nets. If the system is unsure, a person checks. Clear fraud phrases always go to the fraud team: for example, 'my card was skimmed at the ATM' would otherwise go to Cards. Every ticket also gets a reply deadline, one hour for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here. Type a message, show it being classified live, then try 'My card was skimmed at the ATM' to show the fraud safety net, and create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Inbox: tickets sorted by urgency and deadline. Agents can re-route, assign and add notes. Analytics: tickets per day, open work per team, missed deadlines and agent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paste or upload up to 1,000 messages and download the results. Model report: scores, model comparison, versions and the release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this the way a bank would need it: personal details hidden, a release check before any new model goes live, learning from agent corrections, 49 automated tests that run on every change, an API for other systems, and packaging that runs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upfront about the limits. The loan data is generated. It only works in English. It gives one main category per message. And because it learns word patterns rather than meaning, it missed phrases like 'skimmed' on its own, which our fraud rule now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has six parts. The most important is a smarter language model that understands meaning, which should catch fraud phrases without needing rules. We will also add change detection, instant alerts for urgent tickets, a production database, a load test and a full project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recap: 97.3 percent of messages go to the right category, 230 of 240 fraud messages are caught, the exact topic is right 90 percent of the time, and the whole system is covered by 49 automated tests.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Routing Desk</a:t>
            </a:r>
            <a:endParaRPr lang="en-US" sz="1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Routing Desk</a:t>
            </a:r>
            <a:endParaRPr lang="en-US" sz="1000" dirty="0"/>
          </a:p>
        </p:txBody>
      </p:sp>
      <p:sp>
        <p:nvSpPr>
          <p:cNvPr id="3" name="Text 1"/>
          <p:cNvSpPr/>
          <p:nvPr>
            <p:ph idx="101" type="title" hasCustomPrompt="1"/>
          </p:nvPr>
        </p:nvSpPr>
        <p:spPr>
          <a:xfrm>
            <a:off x="548640" y="411480"/>
            <a:ext cx="11094415" cy="731520"/>
          </a:xfrm>
          <a:prstGeom prst="rect">
            <a:avLst/>
          </a:prstGeom>
          <a:noFill/>
          <a:ln/>
        </p:spPr>
        <p:txBody>
          <a:bodyPr wrap="square" rtlCol="0"/>
          <a:lstStyle>
            <a:lvl1pPr algn="l" indent="0" marL="0">
              <a:buNone/>
              <a:defRPr lang="en-US" sz="3000" b="1" dirty="0">
                <a:solidFill>
                  <a:srgbClr val="0E1726"/>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554480"/>
            <a:ext cx="7315200" cy="365760"/>
          </a:xfrm>
          <a:prstGeom prst="rect">
            <a:avLst/>
          </a:prstGeom>
          <a:noFill/>
          <a:ln/>
        </p:spPr>
        <p:txBody>
          <a:bodyPr wrap="square" lIns="0" tIns="0" rIns="0" bIns="0" rtlCol="0" anchor="t"/>
          <a:lstStyle/>
          <a:p>
            <a:pPr indent="0" marL="0">
              <a:buNone/>
            </a:pPr>
            <a:r>
              <a:rPr lang="en-US" sz="1400" b="1" spc="300" kern="0" dirty="0">
                <a:solidFill>
                  <a:srgbClr val="C7D2FE"/>
                </a:solidFill>
                <a:latin typeface="Calibri" pitchFamily="34" charset="0"/>
                <a:ea typeface="Calibri" pitchFamily="34" charset="-122"/>
                <a:cs typeface="Calibri" pitchFamily="34" charset="-120"/>
              </a:rPr>
              <a:t>NLP PROJECT · BANKING</a:t>
            </a:r>
            <a:endParaRPr lang="en-US" sz="1400" dirty="0"/>
          </a:p>
        </p:txBody>
      </p:sp>
      <p:sp>
        <p:nvSpPr>
          <p:cNvPr id="3" name="Text 1"/>
          <p:cNvSpPr txBox="1"/>
          <p:nvPr/>
        </p:nvSpPr>
        <p:spPr>
          <a:xfrm>
            <a:off x="548640" y="1965960"/>
            <a:ext cx="10058400" cy="109728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Routing Desk</a:t>
            </a:r>
            <a:endParaRPr lang="en-US" sz="6000" dirty="0"/>
          </a:p>
        </p:txBody>
      </p:sp>
      <p:sp>
        <p:nvSpPr>
          <p:cNvPr id="4" name="Text 2"/>
          <p:cNvSpPr txBox="1"/>
          <p:nvPr/>
        </p:nvSpPr>
        <p:spPr>
          <a:xfrm>
            <a:off x="548640" y="3154680"/>
            <a:ext cx="8686800" cy="914400"/>
          </a:xfrm>
          <a:prstGeom prst="rect">
            <a:avLst/>
          </a:prstGeom>
          <a:noFill/>
          <a:ln/>
        </p:spPr>
        <p:txBody>
          <a:bodyPr wrap="square" lIns="0" tIns="0" rIns="0" bIns="0" rtlCol="0" anchor="t"/>
          <a:lstStyle/>
          <a:p>
            <a:pPr indent="0" marL="0">
              <a:buNone/>
            </a:pPr>
            <a:r>
              <a:rPr lang="en-US" sz="2200" dirty="0">
                <a:solidFill>
                  <a:srgbClr val="CBD5E1"/>
                </a:solidFill>
                <a:latin typeface="Calibri" pitchFamily="34" charset="0"/>
                <a:ea typeface="Calibri" pitchFamily="34" charset="-122"/>
                <a:cs typeface="Calibri" pitchFamily="34" charset="-120"/>
              </a:rPr>
              <a:t>Understanding customer banking messages and sending each one to the right team, automatically</a:t>
            </a:r>
            <a:endParaRPr lang="en-US" sz="2200" dirty="0"/>
          </a:p>
        </p:txBody>
      </p:sp>
      <p:sp>
        <p:nvSpPr>
          <p:cNvPr id="5" name="Shape 3"/>
          <p:cNvSpPr/>
          <p:nvPr/>
        </p:nvSpPr>
        <p:spPr>
          <a:xfrm>
            <a:off x="548640" y="4572000"/>
            <a:ext cx="1225296" cy="420624"/>
          </a:xfrm>
          <a:prstGeom prst="roundRect">
            <a:avLst>
              <a:gd name="adj" fmla="val 50000"/>
            </a:avLst>
          </a:prstGeom>
          <a:solidFill>
            <a:srgbClr val="00806A"/>
          </a:solidFill>
          <a:ln w="12700">
            <a:solidFill>
              <a:srgbClr val="00806A"/>
            </a:solidFill>
            <a:prstDash val="solid"/>
          </a:ln>
        </p:spPr>
      </p:sp>
      <p:sp>
        <p:nvSpPr>
          <p:cNvPr id="6" name="Text 4"/>
          <p:cNvSpPr txBox="1"/>
          <p:nvPr/>
        </p:nvSpPr>
        <p:spPr>
          <a:xfrm>
            <a:off x="548640" y="4572000"/>
            <a:ext cx="122529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Payments</a:t>
            </a:r>
            <a:endParaRPr lang="en-US" sz="1400" dirty="0"/>
          </a:p>
        </p:txBody>
      </p:sp>
      <p:sp>
        <p:nvSpPr>
          <p:cNvPr id="7" name="Shape 5"/>
          <p:cNvSpPr/>
          <p:nvPr/>
        </p:nvSpPr>
        <p:spPr>
          <a:xfrm>
            <a:off x="1938528" y="4572000"/>
            <a:ext cx="909828" cy="420624"/>
          </a:xfrm>
          <a:prstGeom prst="roundRect">
            <a:avLst>
              <a:gd name="adj" fmla="val 50000"/>
            </a:avLst>
          </a:prstGeom>
          <a:solidFill>
            <a:srgbClr val="2B4FD8"/>
          </a:solidFill>
          <a:ln w="12700">
            <a:solidFill>
              <a:srgbClr val="2B4FD8"/>
            </a:solidFill>
            <a:prstDash val="solid"/>
          </a:ln>
        </p:spPr>
      </p:sp>
      <p:sp>
        <p:nvSpPr>
          <p:cNvPr id="8" name="Text 6"/>
          <p:cNvSpPr txBox="1"/>
          <p:nvPr/>
        </p:nvSpPr>
        <p:spPr>
          <a:xfrm>
            <a:off x="1938528" y="4572000"/>
            <a:ext cx="909828"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Cards</a:t>
            </a:r>
            <a:endParaRPr lang="en-US" sz="1400" dirty="0"/>
          </a:p>
        </p:txBody>
      </p:sp>
      <p:sp>
        <p:nvSpPr>
          <p:cNvPr id="9" name="Shape 7"/>
          <p:cNvSpPr/>
          <p:nvPr/>
        </p:nvSpPr>
        <p:spPr>
          <a:xfrm>
            <a:off x="3012948" y="4572000"/>
            <a:ext cx="909828" cy="420624"/>
          </a:xfrm>
          <a:prstGeom prst="roundRect">
            <a:avLst>
              <a:gd name="adj" fmla="val 50000"/>
            </a:avLst>
          </a:prstGeom>
          <a:solidFill>
            <a:srgbClr val="A86B12"/>
          </a:solidFill>
          <a:ln w="12700">
            <a:solidFill>
              <a:srgbClr val="A86B12"/>
            </a:solidFill>
            <a:prstDash val="solid"/>
          </a:ln>
        </p:spPr>
      </p:sp>
      <p:sp>
        <p:nvSpPr>
          <p:cNvPr id="10" name="Text 8"/>
          <p:cNvSpPr txBox="1"/>
          <p:nvPr/>
        </p:nvSpPr>
        <p:spPr>
          <a:xfrm>
            <a:off x="3012948" y="4572000"/>
            <a:ext cx="909828"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Loans</a:t>
            </a:r>
            <a:endParaRPr lang="en-US" sz="1400" dirty="0"/>
          </a:p>
        </p:txBody>
      </p:sp>
      <p:sp>
        <p:nvSpPr>
          <p:cNvPr id="11" name="Shape 9"/>
          <p:cNvSpPr/>
          <p:nvPr/>
        </p:nvSpPr>
        <p:spPr>
          <a:xfrm>
            <a:off x="4087368" y="4572000"/>
            <a:ext cx="1856232" cy="420624"/>
          </a:xfrm>
          <a:prstGeom prst="roundRect">
            <a:avLst>
              <a:gd name="adj" fmla="val 50000"/>
            </a:avLst>
          </a:prstGeom>
          <a:solidFill>
            <a:srgbClr val="7A3E9D"/>
          </a:solidFill>
          <a:ln w="12700">
            <a:solidFill>
              <a:srgbClr val="7A3E9D"/>
            </a:solidFill>
            <a:prstDash val="solid"/>
          </a:ln>
        </p:spPr>
      </p:sp>
      <p:sp>
        <p:nvSpPr>
          <p:cNvPr id="12" name="Text 10"/>
          <p:cNvSpPr txBox="1"/>
          <p:nvPr/>
        </p:nvSpPr>
        <p:spPr>
          <a:xfrm>
            <a:off x="4087368" y="4572000"/>
            <a:ext cx="1856232"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Account issues</a:t>
            </a:r>
            <a:endParaRPr lang="en-US" sz="1400" dirty="0"/>
          </a:p>
        </p:txBody>
      </p:sp>
      <p:sp>
        <p:nvSpPr>
          <p:cNvPr id="13" name="Shape 11"/>
          <p:cNvSpPr/>
          <p:nvPr/>
        </p:nvSpPr>
        <p:spPr>
          <a:xfrm>
            <a:off x="6108192" y="4572000"/>
            <a:ext cx="909828" cy="420624"/>
          </a:xfrm>
          <a:prstGeom prst="roundRect">
            <a:avLst>
              <a:gd name="adj" fmla="val 50000"/>
            </a:avLst>
          </a:prstGeom>
          <a:solidFill>
            <a:srgbClr val="C81E33"/>
          </a:solidFill>
          <a:ln w="12700">
            <a:solidFill>
              <a:srgbClr val="C81E33"/>
            </a:solidFill>
            <a:prstDash val="solid"/>
          </a:ln>
        </p:spPr>
      </p:sp>
      <p:sp>
        <p:nvSpPr>
          <p:cNvPr id="14" name="Text 12"/>
          <p:cNvSpPr txBox="1"/>
          <p:nvPr/>
        </p:nvSpPr>
        <p:spPr>
          <a:xfrm>
            <a:off x="6108192" y="4572000"/>
            <a:ext cx="909828"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Fraud</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Today, a person sorts every message by hand</a:t>
            </a:r>
            <a:endParaRPr lang="en-US" sz="3000" dirty="0"/>
          </a:p>
        </p:txBody>
      </p:sp>
      <p:sp>
        <p:nvSpPr>
          <p:cNvPr id="3" name="Text 1"/>
          <p:cNvSpPr txBox="1"/>
          <p:nvPr/>
        </p:nvSpPr>
        <p:spPr>
          <a:xfrm>
            <a:off x="548640" y="1325880"/>
            <a:ext cx="5120640" cy="1280160"/>
          </a:xfrm>
          <a:prstGeom prst="rect">
            <a:avLst/>
          </a:prstGeom>
          <a:noFill/>
          <a:ln/>
        </p:spPr>
        <p:txBody>
          <a:bodyPr wrap="square" lIns="0" tIns="0" rIns="0" bIns="0" rtlCol="0" anchor="t"/>
          <a:lstStyle/>
          <a:p>
            <a:pPr indent="0" marL="0">
              <a:buNone/>
            </a:pPr>
            <a:r>
              <a:rPr lang="en-US" sz="1700" dirty="0">
                <a:solidFill>
                  <a:srgbClr val="334155"/>
                </a:solidFill>
                <a:latin typeface="Calibri" pitchFamily="34" charset="0"/>
                <a:ea typeface="Calibri" pitchFamily="34" charset="-122"/>
                <a:cs typeface="Calibri" pitchFamily="34" charset="-120"/>
              </a:rPr>
              <a:t>Customers write to their bank all day: through the app, the website, live chat, email and phone. Before anyone can help, someone has to read each message and decide which team should handle it.</a:t>
            </a:r>
            <a:endParaRPr lang="en-US" sz="1700" dirty="0"/>
          </a:p>
        </p:txBody>
      </p:sp>
      <p:sp>
        <p:nvSpPr>
          <p:cNvPr id="4" name="Shape 2"/>
          <p:cNvSpPr/>
          <p:nvPr/>
        </p:nvSpPr>
        <p:spPr>
          <a:xfrm>
            <a:off x="548640" y="2788920"/>
            <a:ext cx="566928" cy="566928"/>
          </a:xfrm>
          <a:prstGeom prst="ellipse">
            <a:avLst/>
          </a:prstGeom>
          <a:solidFill>
            <a:srgbClr val="EEF0FF"/>
          </a:solidFill>
          <a:ln w="12700">
            <a:solidFill>
              <a:srgbClr val="EEF0FF"/>
            </a:solidFill>
            <a:prstDash val="solid"/>
          </a:ln>
        </p:spPr>
      </p:sp>
      <p:pic>
        <p:nvPicPr>
          <p:cNvPr id="5" name="Image 0" descr="preencoded.png">    </p:cNvPr>
          <p:cNvPicPr>
            <a:picLocks noChangeAspect="1"/>
          </p:cNvPicPr>
          <p:nvPr/>
        </p:nvPicPr>
        <p:blipFill>
          <a:blip r:embed="rId1"/>
          <a:stretch>
            <a:fillRect/>
          </a:stretch>
        </p:blipFill>
        <p:spPr>
          <a:xfrm>
            <a:off x="684703" y="2924983"/>
            <a:ext cx="294803" cy="294803"/>
          </a:xfrm>
          <a:prstGeom prst="rect">
            <a:avLst/>
          </a:prstGeom>
        </p:spPr>
      </p:pic>
      <p:sp>
        <p:nvSpPr>
          <p:cNvPr id="6" name="Text 3"/>
          <p:cNvSpPr txBox="1"/>
          <p:nvPr/>
        </p:nvSpPr>
        <p:spPr>
          <a:xfrm>
            <a:off x="1325880" y="2770632"/>
            <a:ext cx="4389120" cy="310896"/>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It is slow</a:t>
            </a:r>
            <a:endParaRPr lang="en-US" sz="1600" dirty="0"/>
          </a:p>
        </p:txBody>
      </p:sp>
      <p:sp>
        <p:nvSpPr>
          <p:cNvPr id="7" name="Text 4"/>
          <p:cNvSpPr txBox="1"/>
          <p:nvPr/>
        </p:nvSpPr>
        <p:spPr>
          <a:xfrm>
            <a:off x="1325880" y="3081528"/>
            <a:ext cx="44805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Every message waits in one queue until someone reads it.</a:t>
            </a:r>
            <a:endParaRPr lang="en-US" sz="1300" dirty="0"/>
          </a:p>
        </p:txBody>
      </p:sp>
      <p:sp>
        <p:nvSpPr>
          <p:cNvPr id="8" name="Shape 5"/>
          <p:cNvSpPr/>
          <p:nvPr/>
        </p:nvSpPr>
        <p:spPr>
          <a:xfrm>
            <a:off x="548640" y="3611880"/>
            <a:ext cx="566928" cy="566928"/>
          </a:xfrm>
          <a:prstGeom prst="ellipse">
            <a:avLst/>
          </a:prstGeom>
          <a:solidFill>
            <a:srgbClr val="EEF0FF"/>
          </a:solidFill>
          <a:ln w="12700">
            <a:solidFill>
              <a:srgbClr val="EEF0FF"/>
            </a:solidFill>
            <a:prstDash val="solid"/>
          </a:ln>
        </p:spPr>
      </p:sp>
      <p:pic>
        <p:nvPicPr>
          <p:cNvPr id="9" name="Image 1" descr="preencoded.png">    </p:cNvPr>
          <p:cNvPicPr>
            <a:picLocks noChangeAspect="1"/>
          </p:cNvPicPr>
          <p:nvPr/>
        </p:nvPicPr>
        <p:blipFill>
          <a:blip r:embed="rId2"/>
          <a:stretch>
            <a:fillRect/>
          </a:stretch>
        </p:blipFill>
        <p:spPr>
          <a:xfrm>
            <a:off x="684703" y="3747943"/>
            <a:ext cx="294803" cy="294803"/>
          </a:xfrm>
          <a:prstGeom prst="rect">
            <a:avLst/>
          </a:prstGeom>
        </p:spPr>
      </p:pic>
      <p:sp>
        <p:nvSpPr>
          <p:cNvPr id="10" name="Text 6"/>
          <p:cNvSpPr txBox="1"/>
          <p:nvPr/>
        </p:nvSpPr>
        <p:spPr>
          <a:xfrm>
            <a:off x="1325880" y="3593592"/>
            <a:ext cx="4389120" cy="310896"/>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It is repetitive</a:t>
            </a:r>
            <a:endParaRPr lang="en-US" sz="1600" dirty="0"/>
          </a:p>
        </p:txBody>
      </p:sp>
      <p:sp>
        <p:nvSpPr>
          <p:cNvPr id="11" name="Text 7"/>
          <p:cNvSpPr txBox="1"/>
          <p:nvPr/>
        </p:nvSpPr>
        <p:spPr>
          <a:xfrm>
            <a:off x="1325880" y="3904488"/>
            <a:ext cx="44805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Staff spend their day forwarding messages instead of solving them.</a:t>
            </a:r>
            <a:endParaRPr lang="en-US" sz="1300" dirty="0"/>
          </a:p>
        </p:txBody>
      </p:sp>
      <p:sp>
        <p:nvSpPr>
          <p:cNvPr id="12" name="Shape 8"/>
          <p:cNvSpPr/>
          <p:nvPr/>
        </p:nvSpPr>
        <p:spPr>
          <a:xfrm>
            <a:off x="548640" y="4434840"/>
            <a:ext cx="566928" cy="566928"/>
          </a:xfrm>
          <a:prstGeom prst="ellipse">
            <a:avLst/>
          </a:prstGeom>
          <a:solidFill>
            <a:srgbClr val="EEF0FF"/>
          </a:solidFill>
          <a:ln w="12700">
            <a:solidFill>
              <a:srgbClr val="EEF0FF"/>
            </a:solidFill>
            <a:prstDash val="solid"/>
          </a:ln>
        </p:spPr>
      </p:sp>
      <p:pic>
        <p:nvPicPr>
          <p:cNvPr id="13" name="Image 2" descr="preencoded.png">    </p:cNvPr>
          <p:cNvPicPr>
            <a:picLocks noChangeAspect="1"/>
          </p:cNvPicPr>
          <p:nvPr/>
        </p:nvPicPr>
        <p:blipFill>
          <a:blip r:embed="rId3"/>
          <a:stretch>
            <a:fillRect/>
          </a:stretch>
        </p:blipFill>
        <p:spPr>
          <a:xfrm>
            <a:off x="684703" y="4570903"/>
            <a:ext cx="294803" cy="294803"/>
          </a:xfrm>
          <a:prstGeom prst="rect">
            <a:avLst/>
          </a:prstGeom>
        </p:spPr>
      </p:pic>
      <p:sp>
        <p:nvSpPr>
          <p:cNvPr id="14" name="Text 9"/>
          <p:cNvSpPr txBox="1"/>
          <p:nvPr/>
        </p:nvSpPr>
        <p:spPr>
          <a:xfrm>
            <a:off x="1325880" y="4416552"/>
            <a:ext cx="4389120" cy="310896"/>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Mistakes happen</a:t>
            </a:r>
            <a:endParaRPr lang="en-US" sz="1600" dirty="0"/>
          </a:p>
        </p:txBody>
      </p:sp>
      <p:sp>
        <p:nvSpPr>
          <p:cNvPr id="15" name="Text 10"/>
          <p:cNvSpPr txBox="1"/>
          <p:nvPr/>
        </p:nvSpPr>
        <p:spPr>
          <a:xfrm>
            <a:off x="1325880" y="4727448"/>
            <a:ext cx="44805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 message sent to the wrong team bounces around while the customer waits.</a:t>
            </a:r>
            <a:endParaRPr lang="en-US" sz="1300" dirty="0"/>
          </a:p>
        </p:txBody>
      </p:sp>
      <p:sp>
        <p:nvSpPr>
          <p:cNvPr id="16" name="Shape 11"/>
          <p:cNvSpPr/>
          <p:nvPr/>
        </p:nvSpPr>
        <p:spPr>
          <a:xfrm>
            <a:off x="548640" y="5257800"/>
            <a:ext cx="566928" cy="566928"/>
          </a:xfrm>
          <a:prstGeom prst="ellipse">
            <a:avLst/>
          </a:prstGeom>
          <a:solidFill>
            <a:srgbClr val="EEF0FF"/>
          </a:solidFill>
          <a:ln w="12700">
            <a:solidFill>
              <a:srgbClr val="EEF0FF"/>
            </a:solidFill>
            <a:prstDash val="solid"/>
          </a:ln>
        </p:spPr>
      </p:sp>
      <p:pic>
        <p:nvPicPr>
          <p:cNvPr id="17" name="Image 3" descr="preencoded.png">    </p:cNvPr>
          <p:cNvPicPr>
            <a:picLocks noChangeAspect="1"/>
          </p:cNvPicPr>
          <p:nvPr/>
        </p:nvPicPr>
        <p:blipFill>
          <a:blip r:embed="rId4"/>
          <a:stretch>
            <a:fillRect/>
          </a:stretch>
        </p:blipFill>
        <p:spPr>
          <a:xfrm>
            <a:off x="684703" y="5393863"/>
            <a:ext cx="294803" cy="294803"/>
          </a:xfrm>
          <a:prstGeom prst="rect">
            <a:avLst/>
          </a:prstGeom>
        </p:spPr>
      </p:pic>
      <p:sp>
        <p:nvSpPr>
          <p:cNvPr id="18" name="Text 12"/>
          <p:cNvSpPr txBox="1"/>
          <p:nvPr/>
        </p:nvSpPr>
        <p:spPr>
          <a:xfrm>
            <a:off x="1325880" y="5239512"/>
            <a:ext cx="4389120" cy="310896"/>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Urgent cases wait too</a:t>
            </a:r>
            <a:endParaRPr lang="en-US" sz="1600" dirty="0"/>
          </a:p>
        </p:txBody>
      </p:sp>
      <p:sp>
        <p:nvSpPr>
          <p:cNvPr id="19" name="Text 13"/>
          <p:cNvSpPr txBox="1"/>
          <p:nvPr/>
        </p:nvSpPr>
        <p:spPr>
          <a:xfrm>
            <a:off x="1325880" y="5550408"/>
            <a:ext cx="44805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 fraud report sits in the same queue as a question about fees.</a:t>
            </a:r>
            <a:endParaRPr lang="en-US" sz="1300" dirty="0"/>
          </a:p>
        </p:txBody>
      </p:sp>
      <p:sp>
        <p:nvSpPr>
          <p:cNvPr id="20" name="Shape 14"/>
          <p:cNvSpPr/>
          <p:nvPr/>
        </p:nvSpPr>
        <p:spPr>
          <a:xfrm>
            <a:off x="6400800" y="1325880"/>
            <a:ext cx="5239512" cy="4754880"/>
          </a:xfrm>
          <a:prstGeom prst="roundRect">
            <a:avLst>
              <a:gd name="adj" fmla="val 2308"/>
            </a:avLst>
          </a:prstGeom>
          <a:solidFill>
            <a:srgbClr val="F4F6FB"/>
          </a:solidFill>
          <a:ln w="12700">
            <a:solidFill>
              <a:srgbClr val="F4F6FB"/>
            </a:solidFill>
            <a:prstDash val="solid"/>
          </a:ln>
        </p:spPr>
      </p:sp>
      <p:sp>
        <p:nvSpPr>
          <p:cNvPr id="21" name="Text 15"/>
          <p:cNvSpPr txBox="1"/>
          <p:nvPr/>
        </p:nvSpPr>
        <p:spPr>
          <a:xfrm>
            <a:off x="6720840" y="1554480"/>
            <a:ext cx="4572000"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Calibri" pitchFamily="34" charset="0"/>
                <a:ea typeface="Calibri" pitchFamily="34" charset="-122"/>
                <a:cs typeface="Calibri" pitchFamily="34" charset="-120"/>
              </a:rPr>
              <a:t>THE MANUAL WAY</a:t>
            </a:r>
            <a:endParaRPr lang="en-US" sz="1100" dirty="0"/>
          </a:p>
        </p:txBody>
      </p:sp>
      <p:sp>
        <p:nvSpPr>
          <p:cNvPr id="22" name="Shape 16"/>
          <p:cNvSpPr/>
          <p:nvPr/>
        </p:nvSpPr>
        <p:spPr>
          <a:xfrm>
            <a:off x="6720840" y="1965960"/>
            <a:ext cx="2514600" cy="438912"/>
          </a:xfrm>
          <a:prstGeom prst="roundRect">
            <a:avLst>
              <a:gd name="adj" fmla="val 16667"/>
            </a:avLst>
          </a:prstGeom>
          <a:solidFill>
            <a:srgbClr val="FFFFFF"/>
          </a:solidFill>
          <a:ln w="12700">
            <a:solidFill>
              <a:srgbClr val="E2E8F0"/>
            </a:solidFill>
            <a:prstDash val="solid"/>
          </a:ln>
        </p:spPr>
      </p:sp>
      <p:sp>
        <p:nvSpPr>
          <p:cNvPr id="23" name="Text 17"/>
          <p:cNvSpPr txBox="1"/>
          <p:nvPr/>
        </p:nvSpPr>
        <p:spPr>
          <a:xfrm>
            <a:off x="6812280" y="1965960"/>
            <a:ext cx="2377440" cy="438912"/>
          </a:xfrm>
          <a:prstGeom prst="rect">
            <a:avLst/>
          </a:prstGeom>
          <a:noFill/>
          <a:ln/>
        </p:spPr>
        <p:txBody>
          <a:bodyPr wrap="square" lIns="0" tIns="0" rIns="0" bIns="0" rtlCol="0" anchor="ctr"/>
          <a:lstStyle/>
          <a:p>
            <a:pPr indent="0" marL="0">
              <a:buNone/>
            </a:pPr>
            <a:r>
              <a:rPr lang="en-US" sz="1100" dirty="0">
                <a:solidFill>
                  <a:srgbClr val="0E1726"/>
                </a:solidFill>
                <a:latin typeface="Calibri" pitchFamily="34" charset="0"/>
                <a:ea typeface="Calibri" pitchFamily="34" charset="-122"/>
                <a:cs typeface="Calibri" pitchFamily="34" charset="-120"/>
              </a:rPr>
              <a:t>“My card hasn't arrived”</a:t>
            </a:r>
            <a:endParaRPr lang="en-US" sz="1100" dirty="0"/>
          </a:p>
        </p:txBody>
      </p:sp>
      <p:sp>
        <p:nvSpPr>
          <p:cNvPr id="24" name="Shape 18"/>
          <p:cNvSpPr/>
          <p:nvPr/>
        </p:nvSpPr>
        <p:spPr>
          <a:xfrm>
            <a:off x="6720840" y="2532888"/>
            <a:ext cx="2514600" cy="438912"/>
          </a:xfrm>
          <a:prstGeom prst="roundRect">
            <a:avLst>
              <a:gd name="adj" fmla="val 16667"/>
            </a:avLst>
          </a:prstGeom>
          <a:solidFill>
            <a:srgbClr val="FFFFFF"/>
          </a:solidFill>
          <a:ln w="12700">
            <a:solidFill>
              <a:srgbClr val="E2E8F0"/>
            </a:solidFill>
            <a:prstDash val="solid"/>
          </a:ln>
        </p:spPr>
      </p:sp>
      <p:sp>
        <p:nvSpPr>
          <p:cNvPr id="25" name="Text 19"/>
          <p:cNvSpPr txBox="1"/>
          <p:nvPr/>
        </p:nvSpPr>
        <p:spPr>
          <a:xfrm>
            <a:off x="6812280" y="2532888"/>
            <a:ext cx="2377440" cy="438912"/>
          </a:xfrm>
          <a:prstGeom prst="rect">
            <a:avLst/>
          </a:prstGeom>
          <a:noFill/>
          <a:ln/>
        </p:spPr>
        <p:txBody>
          <a:bodyPr wrap="square" lIns="0" tIns="0" rIns="0" bIns="0" rtlCol="0" anchor="ctr"/>
          <a:lstStyle/>
          <a:p>
            <a:pPr indent="0" marL="0">
              <a:buNone/>
            </a:pPr>
            <a:r>
              <a:rPr lang="en-US" sz="1100" dirty="0">
                <a:solidFill>
                  <a:srgbClr val="0E1726"/>
                </a:solidFill>
                <a:latin typeface="Calibri" pitchFamily="34" charset="0"/>
                <a:ea typeface="Calibri" pitchFamily="34" charset="-122"/>
                <a:cs typeface="Calibri" pitchFamily="34" charset="-120"/>
              </a:rPr>
              <a:t>“I didn't make this payment”</a:t>
            </a:r>
            <a:endParaRPr lang="en-US" sz="1100" dirty="0"/>
          </a:p>
        </p:txBody>
      </p:sp>
      <p:sp>
        <p:nvSpPr>
          <p:cNvPr id="26" name="Shape 20"/>
          <p:cNvSpPr/>
          <p:nvPr/>
        </p:nvSpPr>
        <p:spPr>
          <a:xfrm>
            <a:off x="6720840" y="3099816"/>
            <a:ext cx="2514600" cy="438912"/>
          </a:xfrm>
          <a:prstGeom prst="roundRect">
            <a:avLst>
              <a:gd name="adj" fmla="val 16667"/>
            </a:avLst>
          </a:prstGeom>
          <a:solidFill>
            <a:srgbClr val="FFFFFF"/>
          </a:solidFill>
          <a:ln w="12700">
            <a:solidFill>
              <a:srgbClr val="E2E8F0"/>
            </a:solidFill>
            <a:prstDash val="solid"/>
          </a:ln>
        </p:spPr>
      </p:sp>
      <p:sp>
        <p:nvSpPr>
          <p:cNvPr id="27" name="Text 21"/>
          <p:cNvSpPr txBox="1"/>
          <p:nvPr/>
        </p:nvSpPr>
        <p:spPr>
          <a:xfrm>
            <a:off x="6812280" y="3099816"/>
            <a:ext cx="2377440" cy="438912"/>
          </a:xfrm>
          <a:prstGeom prst="rect">
            <a:avLst/>
          </a:prstGeom>
          <a:noFill/>
          <a:ln/>
        </p:spPr>
        <p:txBody>
          <a:bodyPr wrap="square" lIns="0" tIns="0" rIns="0" bIns="0" rtlCol="0" anchor="ctr"/>
          <a:lstStyle/>
          <a:p>
            <a:pPr indent="0" marL="0">
              <a:buNone/>
            </a:pPr>
            <a:r>
              <a:rPr lang="en-US" sz="1100" dirty="0">
                <a:solidFill>
                  <a:srgbClr val="0E1726"/>
                </a:solidFill>
                <a:latin typeface="Calibri" pitchFamily="34" charset="0"/>
                <a:ea typeface="Calibri" pitchFamily="34" charset="-122"/>
                <a:cs typeface="Calibri" pitchFamily="34" charset="-120"/>
              </a:rPr>
              <a:t>“How do I close my account?”</a:t>
            </a:r>
            <a:endParaRPr lang="en-US" sz="1100" dirty="0"/>
          </a:p>
        </p:txBody>
      </p:sp>
      <p:sp>
        <p:nvSpPr>
          <p:cNvPr id="28" name="Shape 22"/>
          <p:cNvSpPr/>
          <p:nvPr/>
        </p:nvSpPr>
        <p:spPr>
          <a:xfrm>
            <a:off x="6720840" y="3666744"/>
            <a:ext cx="2514600" cy="438912"/>
          </a:xfrm>
          <a:prstGeom prst="roundRect">
            <a:avLst>
              <a:gd name="adj" fmla="val 16667"/>
            </a:avLst>
          </a:prstGeom>
          <a:solidFill>
            <a:srgbClr val="FFFFFF"/>
          </a:solidFill>
          <a:ln w="12700">
            <a:solidFill>
              <a:srgbClr val="E2E8F0"/>
            </a:solidFill>
            <a:prstDash val="solid"/>
          </a:ln>
        </p:spPr>
      </p:sp>
      <p:sp>
        <p:nvSpPr>
          <p:cNvPr id="29" name="Text 23"/>
          <p:cNvSpPr txBox="1"/>
          <p:nvPr/>
        </p:nvSpPr>
        <p:spPr>
          <a:xfrm>
            <a:off x="6812280" y="3666744"/>
            <a:ext cx="2377440" cy="438912"/>
          </a:xfrm>
          <a:prstGeom prst="rect">
            <a:avLst/>
          </a:prstGeom>
          <a:noFill/>
          <a:ln/>
        </p:spPr>
        <p:txBody>
          <a:bodyPr wrap="square" lIns="0" tIns="0" rIns="0" bIns="0" rtlCol="0" anchor="ctr"/>
          <a:lstStyle/>
          <a:p>
            <a:pPr indent="0" marL="0">
              <a:buNone/>
            </a:pPr>
            <a:r>
              <a:rPr lang="en-US" sz="1100" dirty="0">
                <a:solidFill>
                  <a:srgbClr val="0E1726"/>
                </a:solidFill>
                <a:latin typeface="Calibri" pitchFamily="34" charset="0"/>
                <a:ea typeface="Calibri" pitchFamily="34" charset="-122"/>
                <a:cs typeface="Calibri" pitchFamily="34" charset="-120"/>
              </a:rPr>
              <a:t>“What's the EMI on my loan?”</a:t>
            </a:r>
            <a:endParaRPr lang="en-US" sz="1100" dirty="0"/>
          </a:p>
        </p:txBody>
      </p:sp>
      <p:sp>
        <p:nvSpPr>
          <p:cNvPr id="30" name="Shape 24"/>
          <p:cNvSpPr/>
          <p:nvPr/>
        </p:nvSpPr>
        <p:spPr>
          <a:xfrm>
            <a:off x="9555480" y="2331720"/>
            <a:ext cx="868680" cy="868680"/>
          </a:xfrm>
          <a:prstGeom prst="ellipse">
            <a:avLst/>
          </a:prstGeom>
          <a:solidFill>
            <a:srgbClr val="FFFFFF"/>
          </a:solidFill>
          <a:ln w="12700">
            <a:solidFill>
              <a:srgbClr val="FFFFFF"/>
            </a:solidFill>
            <a:prstDash val="solid"/>
          </a:ln>
        </p:spPr>
      </p:sp>
      <p:pic>
        <p:nvPicPr>
          <p:cNvPr id="31" name="Image 4" descr="preencoded.png">    </p:cNvPr>
          <p:cNvPicPr>
            <a:picLocks noChangeAspect="1"/>
          </p:cNvPicPr>
          <p:nvPr/>
        </p:nvPicPr>
        <p:blipFill>
          <a:blip r:embed="rId5"/>
          <a:stretch>
            <a:fillRect/>
          </a:stretch>
        </p:blipFill>
        <p:spPr>
          <a:xfrm>
            <a:off x="9763963" y="2540203"/>
            <a:ext cx="451714" cy="451714"/>
          </a:xfrm>
          <a:prstGeom prst="rect">
            <a:avLst/>
          </a:prstGeom>
        </p:spPr>
      </p:pic>
      <p:sp>
        <p:nvSpPr>
          <p:cNvPr id="32" name="Text 25"/>
          <p:cNvSpPr txBox="1"/>
          <p:nvPr/>
        </p:nvSpPr>
        <p:spPr>
          <a:xfrm>
            <a:off x="9372600" y="3291840"/>
            <a:ext cx="2103120" cy="6400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One person reads and forwards each message</a:t>
            </a:r>
            <a:endParaRPr lang="en-US" sz="1200" dirty="0"/>
          </a:p>
        </p:txBody>
      </p:sp>
      <p:sp>
        <p:nvSpPr>
          <p:cNvPr id="33" name="Shape 26"/>
          <p:cNvSpPr/>
          <p:nvPr/>
        </p:nvSpPr>
        <p:spPr>
          <a:xfrm>
            <a:off x="9281160" y="2770632"/>
            <a:ext cx="228600" cy="0"/>
          </a:xfrm>
          <a:prstGeom prst="line">
            <a:avLst/>
          </a:prstGeom>
          <a:noFill/>
          <a:ln w="19050">
            <a:solidFill>
              <a:srgbClr val="64748B"/>
            </a:solidFill>
            <a:prstDash val="solid"/>
            <a:tailEnd type="triangle"/>
          </a:ln>
        </p:spPr>
      </p:sp>
      <p:sp>
        <p:nvSpPr>
          <p:cNvPr id="34" name="Text 27"/>
          <p:cNvSpPr txBox="1"/>
          <p:nvPr/>
        </p:nvSpPr>
        <p:spPr>
          <a:xfrm>
            <a:off x="6720840" y="4572000"/>
            <a:ext cx="4663440" cy="365760"/>
          </a:xfrm>
          <a:prstGeom prst="rect">
            <a:avLst/>
          </a:prstGeom>
          <a:noFill/>
          <a:ln/>
        </p:spPr>
        <p:txBody>
          <a:bodyPr wrap="square" lIns="0" tIns="0" rIns="0" bIns="0" rtlCol="0" anchor="t"/>
          <a:lstStyle/>
          <a:p>
            <a:pPr indent="0" marL="0">
              <a:buNone/>
            </a:pPr>
            <a:r>
              <a:rPr lang="en-US" sz="1500" b="1" dirty="0">
                <a:solidFill>
                  <a:srgbClr val="C81E33"/>
                </a:solidFill>
                <a:latin typeface="Calibri" pitchFamily="34" charset="0"/>
                <a:ea typeface="Calibri" pitchFamily="34" charset="-122"/>
                <a:cs typeface="Calibri" pitchFamily="34" charset="-120"/>
              </a:rPr>
              <a:t>The fraud report is third in line.</a:t>
            </a:r>
            <a:endParaRPr lang="en-US" sz="1500" dirty="0"/>
          </a:p>
        </p:txBody>
      </p:sp>
      <p:sp>
        <p:nvSpPr>
          <p:cNvPr id="35" name="Text 28"/>
          <p:cNvSpPr txBox="1"/>
          <p:nvPr/>
        </p:nvSpPr>
        <p:spPr>
          <a:xfrm>
            <a:off x="6720840" y="4983480"/>
            <a:ext cx="4663440" cy="6400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Whoever sorts the queue decides how fast each customer is helped.</a:t>
            </a:r>
            <a:endParaRPr lang="en-US" sz="13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731520"/>
            <a:ext cx="7315200" cy="320040"/>
          </a:xfrm>
          <a:prstGeom prst="rect">
            <a:avLst/>
          </a:prstGeom>
          <a:noFill/>
          <a:ln/>
        </p:spPr>
        <p:txBody>
          <a:bodyPr wrap="square" lIns="0" tIns="0" rIns="0" bIns="0" rtlCol="0" anchor="t"/>
          <a:lstStyle/>
          <a:p>
            <a:pPr indent="0" marL="0">
              <a:buNone/>
            </a:pPr>
            <a:r>
              <a:rPr lang="en-US" sz="1300" b="1" spc="300" kern="0" dirty="0">
                <a:solidFill>
                  <a:srgbClr val="C7D2FE"/>
                </a:solidFill>
                <a:latin typeface="Calibri" pitchFamily="34" charset="0"/>
                <a:ea typeface="Calibri" pitchFamily="34" charset="-122"/>
                <a:cs typeface="Calibri" pitchFamily="34" charset="-120"/>
              </a:rPr>
              <a:t>OUR PROBLEM STATEMENT</a:t>
            </a:r>
            <a:endParaRPr lang="en-US" sz="1300" dirty="0"/>
          </a:p>
        </p:txBody>
      </p:sp>
      <p:sp>
        <p:nvSpPr>
          <p:cNvPr id="3" name="Text 1"/>
          <p:cNvSpPr txBox="1"/>
          <p:nvPr/>
        </p:nvSpPr>
        <p:spPr>
          <a:xfrm>
            <a:off x="548640" y="1188720"/>
            <a:ext cx="11064240" cy="2103120"/>
          </a:xfrm>
          <a:prstGeom prst="rect">
            <a:avLst/>
          </a:prstGeom>
          <a:noFill/>
          <a:ln/>
        </p:spPr>
        <p:txBody>
          <a:bodyPr wrap="square" lIns="0" tIns="0" rIns="0" bIns="0" rtlCol="0" anchor="t"/>
          <a:lstStyle/>
          <a:p>
            <a:pPr indent="0" marL="0">
              <a:buNone/>
            </a:pPr>
            <a:r>
              <a:rPr lang="en-US" sz="2100" i="1" dirty="0">
                <a:solidFill>
                  <a:srgbClr val="FFFFFF"/>
                </a:solidFill>
                <a:latin typeface="Calibri" pitchFamily="34" charset="0"/>
                <a:ea typeface="Calibri" pitchFamily="34" charset="-122"/>
                <a:cs typeface="Calibri" pitchFamily="34" charset="-120"/>
              </a:rPr>
              <a:t>“Develop an NLP-based system that automatically understands and classifies customer banking queries into relevant categories such as payments, cards, loans, account issues, and fraud. The system will help banks efficiently route customer queries to the appropriate service or department, reducing manual effort and improving response time.”</a:t>
            </a:r>
            <a:endParaRPr lang="en-US" sz="2100" dirty="0"/>
          </a:p>
        </p:txBody>
      </p:sp>
      <p:sp>
        <p:nvSpPr>
          <p:cNvPr id="4" name="Shape 2"/>
          <p:cNvSpPr/>
          <p:nvPr/>
        </p:nvSpPr>
        <p:spPr>
          <a:xfrm>
            <a:off x="548640" y="3840480"/>
            <a:ext cx="2606040" cy="1965960"/>
          </a:xfrm>
          <a:prstGeom prst="roundRect">
            <a:avLst>
              <a:gd name="adj" fmla="val 5581"/>
            </a:avLst>
          </a:prstGeom>
          <a:solidFill>
            <a:srgbClr val="151D30"/>
          </a:solidFill>
          <a:ln w="12700">
            <a:solidFill>
              <a:srgbClr val="243049"/>
            </a:solidFill>
            <a:prstDash val="solid"/>
          </a:ln>
        </p:spPr>
      </p:sp>
      <p:sp>
        <p:nvSpPr>
          <p:cNvPr id="5" name="Shape 3"/>
          <p:cNvSpPr/>
          <p:nvPr/>
        </p:nvSpPr>
        <p:spPr>
          <a:xfrm>
            <a:off x="822960" y="4069080"/>
            <a:ext cx="566928" cy="566928"/>
          </a:xfrm>
          <a:prstGeom prst="ellipse">
            <a:avLst/>
          </a:prstGeom>
          <a:solidFill>
            <a:srgbClr val="232E4D"/>
          </a:solidFill>
          <a:ln w="12700">
            <a:solidFill>
              <a:srgbClr val="232E4D"/>
            </a:solidFill>
            <a:prstDash val="solid"/>
          </a:ln>
        </p:spPr>
      </p:sp>
      <p:pic>
        <p:nvPicPr>
          <p:cNvPr id="6" name="Image 0" descr="preencoded.png">    </p:cNvPr>
          <p:cNvPicPr>
            <a:picLocks noChangeAspect="1"/>
          </p:cNvPicPr>
          <p:nvPr/>
        </p:nvPicPr>
        <p:blipFill>
          <a:blip r:embed="rId1"/>
          <a:stretch>
            <a:fillRect/>
          </a:stretch>
        </p:blipFill>
        <p:spPr>
          <a:xfrm>
            <a:off x="959023" y="4205143"/>
            <a:ext cx="294803" cy="294803"/>
          </a:xfrm>
          <a:prstGeom prst="rect">
            <a:avLst/>
          </a:prstGeom>
        </p:spPr>
      </p:pic>
      <p:sp>
        <p:nvSpPr>
          <p:cNvPr id="7" name="Text 4"/>
          <p:cNvSpPr txBox="1"/>
          <p:nvPr/>
        </p:nvSpPr>
        <p:spPr>
          <a:xfrm>
            <a:off x="822960" y="4754880"/>
            <a:ext cx="21031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Understand</a:t>
            </a:r>
            <a:endParaRPr lang="en-US" sz="1700" dirty="0"/>
          </a:p>
        </p:txBody>
      </p:sp>
      <p:sp>
        <p:nvSpPr>
          <p:cNvPr id="8" name="Text 5"/>
          <p:cNvSpPr txBox="1"/>
          <p:nvPr/>
        </p:nvSpPr>
        <p:spPr>
          <a:xfrm>
            <a:off x="822960" y="5120640"/>
            <a:ext cx="2148840" cy="548640"/>
          </a:xfrm>
          <a:prstGeom prst="rect">
            <a:avLst/>
          </a:prstGeom>
          <a:noFill/>
          <a:ln/>
        </p:spPr>
        <p:txBody>
          <a:bodyPr wrap="square" lIns="0" tIns="0" rIns="0" bIns="0" rtlCol="0" anchor="t"/>
          <a:lstStyle/>
          <a:p>
            <a:pPr indent="0" marL="0">
              <a:buNone/>
            </a:pPr>
            <a:r>
              <a:rPr lang="en-US" sz="1300" dirty="0">
                <a:solidFill>
                  <a:srgbClr val="A5B4CC"/>
                </a:solidFill>
                <a:latin typeface="Calibri" pitchFamily="34" charset="0"/>
                <a:ea typeface="Calibri" pitchFamily="34" charset="-122"/>
                <a:cs typeface="Calibri" pitchFamily="34" charset="-120"/>
              </a:rPr>
              <a:t>Read a message written in everyday words</a:t>
            </a:r>
            <a:endParaRPr lang="en-US" sz="1300" dirty="0"/>
          </a:p>
        </p:txBody>
      </p:sp>
      <p:sp>
        <p:nvSpPr>
          <p:cNvPr id="9" name="Shape 6"/>
          <p:cNvSpPr/>
          <p:nvPr/>
        </p:nvSpPr>
        <p:spPr>
          <a:xfrm>
            <a:off x="3355848" y="3840480"/>
            <a:ext cx="2606040" cy="1965960"/>
          </a:xfrm>
          <a:prstGeom prst="roundRect">
            <a:avLst>
              <a:gd name="adj" fmla="val 5581"/>
            </a:avLst>
          </a:prstGeom>
          <a:solidFill>
            <a:srgbClr val="151D30"/>
          </a:solidFill>
          <a:ln w="12700">
            <a:solidFill>
              <a:srgbClr val="243049"/>
            </a:solidFill>
            <a:prstDash val="solid"/>
          </a:ln>
        </p:spPr>
      </p:sp>
      <p:sp>
        <p:nvSpPr>
          <p:cNvPr id="10" name="Shape 7"/>
          <p:cNvSpPr/>
          <p:nvPr/>
        </p:nvSpPr>
        <p:spPr>
          <a:xfrm>
            <a:off x="3630168" y="4069080"/>
            <a:ext cx="566928" cy="566928"/>
          </a:xfrm>
          <a:prstGeom prst="ellipse">
            <a:avLst/>
          </a:prstGeom>
          <a:solidFill>
            <a:srgbClr val="232E4D"/>
          </a:solidFill>
          <a:ln w="12700">
            <a:solidFill>
              <a:srgbClr val="232E4D"/>
            </a:solidFill>
            <a:prstDash val="solid"/>
          </a:ln>
        </p:spPr>
      </p:sp>
      <p:pic>
        <p:nvPicPr>
          <p:cNvPr id="11" name="Image 1" descr="preencoded.png">    </p:cNvPr>
          <p:cNvPicPr>
            <a:picLocks noChangeAspect="1"/>
          </p:cNvPicPr>
          <p:nvPr/>
        </p:nvPicPr>
        <p:blipFill>
          <a:blip r:embed="rId2"/>
          <a:stretch>
            <a:fillRect/>
          </a:stretch>
        </p:blipFill>
        <p:spPr>
          <a:xfrm>
            <a:off x="3766231" y="4205143"/>
            <a:ext cx="294803" cy="294803"/>
          </a:xfrm>
          <a:prstGeom prst="rect">
            <a:avLst/>
          </a:prstGeom>
        </p:spPr>
      </p:pic>
      <p:sp>
        <p:nvSpPr>
          <p:cNvPr id="12" name="Text 8"/>
          <p:cNvSpPr txBox="1"/>
          <p:nvPr/>
        </p:nvSpPr>
        <p:spPr>
          <a:xfrm>
            <a:off x="3630168" y="4754880"/>
            <a:ext cx="21031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Classify</a:t>
            </a:r>
            <a:endParaRPr lang="en-US" sz="1700" dirty="0"/>
          </a:p>
        </p:txBody>
      </p:sp>
      <p:sp>
        <p:nvSpPr>
          <p:cNvPr id="13" name="Text 9"/>
          <p:cNvSpPr txBox="1"/>
          <p:nvPr/>
        </p:nvSpPr>
        <p:spPr>
          <a:xfrm>
            <a:off x="3630168" y="5120640"/>
            <a:ext cx="2148840" cy="548640"/>
          </a:xfrm>
          <a:prstGeom prst="rect">
            <a:avLst/>
          </a:prstGeom>
          <a:noFill/>
          <a:ln/>
        </p:spPr>
        <p:txBody>
          <a:bodyPr wrap="square" lIns="0" tIns="0" rIns="0" bIns="0" rtlCol="0" anchor="t"/>
          <a:lstStyle/>
          <a:p>
            <a:pPr indent="0" marL="0">
              <a:buNone/>
            </a:pPr>
            <a:r>
              <a:rPr lang="en-US" sz="1300" dirty="0">
                <a:solidFill>
                  <a:srgbClr val="A5B4CC"/>
                </a:solidFill>
                <a:latin typeface="Calibri" pitchFamily="34" charset="0"/>
                <a:ea typeface="Calibri" pitchFamily="34" charset="-122"/>
                <a:cs typeface="Calibri" pitchFamily="34" charset="-120"/>
              </a:rPr>
              <a:t>Put it in one of 5 categories</a:t>
            </a:r>
            <a:endParaRPr lang="en-US" sz="1300" dirty="0"/>
          </a:p>
        </p:txBody>
      </p:sp>
      <p:sp>
        <p:nvSpPr>
          <p:cNvPr id="14" name="Shape 10"/>
          <p:cNvSpPr/>
          <p:nvPr/>
        </p:nvSpPr>
        <p:spPr>
          <a:xfrm>
            <a:off x="6163056" y="3840480"/>
            <a:ext cx="2606040" cy="1965960"/>
          </a:xfrm>
          <a:prstGeom prst="roundRect">
            <a:avLst>
              <a:gd name="adj" fmla="val 5581"/>
            </a:avLst>
          </a:prstGeom>
          <a:solidFill>
            <a:srgbClr val="151D30"/>
          </a:solidFill>
          <a:ln w="12700">
            <a:solidFill>
              <a:srgbClr val="243049"/>
            </a:solidFill>
            <a:prstDash val="solid"/>
          </a:ln>
        </p:spPr>
      </p:sp>
      <p:sp>
        <p:nvSpPr>
          <p:cNvPr id="15" name="Shape 11"/>
          <p:cNvSpPr/>
          <p:nvPr/>
        </p:nvSpPr>
        <p:spPr>
          <a:xfrm>
            <a:off x="6437376" y="4069080"/>
            <a:ext cx="566928" cy="566928"/>
          </a:xfrm>
          <a:prstGeom prst="ellipse">
            <a:avLst/>
          </a:prstGeom>
          <a:solidFill>
            <a:srgbClr val="232E4D"/>
          </a:solidFill>
          <a:ln w="12700">
            <a:solidFill>
              <a:srgbClr val="232E4D"/>
            </a:solidFill>
            <a:prstDash val="solid"/>
          </a:ln>
        </p:spPr>
      </p:sp>
      <p:pic>
        <p:nvPicPr>
          <p:cNvPr id="16" name="Image 2" descr="preencoded.png">    </p:cNvPr>
          <p:cNvPicPr>
            <a:picLocks noChangeAspect="1"/>
          </p:cNvPicPr>
          <p:nvPr/>
        </p:nvPicPr>
        <p:blipFill>
          <a:blip r:embed="rId3"/>
          <a:stretch>
            <a:fillRect/>
          </a:stretch>
        </p:blipFill>
        <p:spPr>
          <a:xfrm>
            <a:off x="6573439" y="4205143"/>
            <a:ext cx="294803" cy="294803"/>
          </a:xfrm>
          <a:prstGeom prst="rect">
            <a:avLst/>
          </a:prstGeom>
        </p:spPr>
      </p:pic>
      <p:sp>
        <p:nvSpPr>
          <p:cNvPr id="17" name="Text 12"/>
          <p:cNvSpPr txBox="1"/>
          <p:nvPr/>
        </p:nvSpPr>
        <p:spPr>
          <a:xfrm>
            <a:off x="6437376" y="4754880"/>
            <a:ext cx="21031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Route</a:t>
            </a:r>
            <a:endParaRPr lang="en-US" sz="1700" dirty="0"/>
          </a:p>
        </p:txBody>
      </p:sp>
      <p:sp>
        <p:nvSpPr>
          <p:cNvPr id="18" name="Text 13"/>
          <p:cNvSpPr txBox="1"/>
          <p:nvPr/>
        </p:nvSpPr>
        <p:spPr>
          <a:xfrm>
            <a:off x="6437376" y="5120640"/>
            <a:ext cx="2148840" cy="548640"/>
          </a:xfrm>
          <a:prstGeom prst="rect">
            <a:avLst/>
          </a:prstGeom>
          <a:noFill/>
          <a:ln/>
        </p:spPr>
        <p:txBody>
          <a:bodyPr wrap="square" lIns="0" tIns="0" rIns="0" bIns="0" rtlCol="0" anchor="t"/>
          <a:lstStyle/>
          <a:p>
            <a:pPr indent="0" marL="0">
              <a:buNone/>
            </a:pPr>
            <a:r>
              <a:rPr lang="en-US" sz="1300" dirty="0">
                <a:solidFill>
                  <a:srgbClr val="A5B4CC"/>
                </a:solidFill>
                <a:latin typeface="Calibri" pitchFamily="34" charset="0"/>
                <a:ea typeface="Calibri" pitchFamily="34" charset="-122"/>
                <a:cs typeface="Calibri" pitchFamily="34" charset="-120"/>
              </a:rPr>
              <a:t>Send it to the right team</a:t>
            </a:r>
            <a:endParaRPr lang="en-US" sz="1300" dirty="0"/>
          </a:p>
        </p:txBody>
      </p:sp>
      <p:sp>
        <p:nvSpPr>
          <p:cNvPr id="19" name="Shape 14"/>
          <p:cNvSpPr/>
          <p:nvPr/>
        </p:nvSpPr>
        <p:spPr>
          <a:xfrm>
            <a:off x="8970264" y="3840480"/>
            <a:ext cx="2606040" cy="1965960"/>
          </a:xfrm>
          <a:prstGeom prst="roundRect">
            <a:avLst>
              <a:gd name="adj" fmla="val 5581"/>
            </a:avLst>
          </a:prstGeom>
          <a:solidFill>
            <a:srgbClr val="151D30"/>
          </a:solidFill>
          <a:ln w="12700">
            <a:solidFill>
              <a:srgbClr val="243049"/>
            </a:solidFill>
            <a:prstDash val="solid"/>
          </a:ln>
        </p:spPr>
      </p:sp>
      <p:sp>
        <p:nvSpPr>
          <p:cNvPr id="20" name="Shape 15"/>
          <p:cNvSpPr/>
          <p:nvPr/>
        </p:nvSpPr>
        <p:spPr>
          <a:xfrm>
            <a:off x="9244584" y="4069080"/>
            <a:ext cx="566928" cy="566928"/>
          </a:xfrm>
          <a:prstGeom prst="ellipse">
            <a:avLst/>
          </a:prstGeom>
          <a:solidFill>
            <a:srgbClr val="232E4D"/>
          </a:solidFill>
          <a:ln w="12700">
            <a:solidFill>
              <a:srgbClr val="232E4D"/>
            </a:solidFill>
            <a:prstDash val="solid"/>
          </a:ln>
        </p:spPr>
      </p:sp>
      <p:pic>
        <p:nvPicPr>
          <p:cNvPr id="21" name="Image 3" descr="preencoded.png">    </p:cNvPr>
          <p:cNvPicPr>
            <a:picLocks noChangeAspect="1"/>
          </p:cNvPicPr>
          <p:nvPr/>
        </p:nvPicPr>
        <p:blipFill>
          <a:blip r:embed="rId4"/>
          <a:stretch>
            <a:fillRect/>
          </a:stretch>
        </p:blipFill>
        <p:spPr>
          <a:xfrm>
            <a:off x="9380647" y="4205143"/>
            <a:ext cx="294803" cy="294803"/>
          </a:xfrm>
          <a:prstGeom prst="rect">
            <a:avLst/>
          </a:prstGeom>
        </p:spPr>
      </p:pic>
      <p:sp>
        <p:nvSpPr>
          <p:cNvPr id="22" name="Text 16"/>
          <p:cNvSpPr txBox="1"/>
          <p:nvPr/>
        </p:nvSpPr>
        <p:spPr>
          <a:xfrm>
            <a:off x="9244584" y="4754880"/>
            <a:ext cx="21031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Help the bank</a:t>
            </a:r>
            <a:endParaRPr lang="en-US" sz="1700" dirty="0"/>
          </a:p>
        </p:txBody>
      </p:sp>
      <p:sp>
        <p:nvSpPr>
          <p:cNvPr id="23" name="Text 17"/>
          <p:cNvSpPr txBox="1"/>
          <p:nvPr/>
        </p:nvSpPr>
        <p:spPr>
          <a:xfrm>
            <a:off x="9244584" y="5120640"/>
            <a:ext cx="2148840" cy="548640"/>
          </a:xfrm>
          <a:prstGeom prst="rect">
            <a:avLst/>
          </a:prstGeom>
          <a:noFill/>
          <a:ln/>
        </p:spPr>
        <p:txBody>
          <a:bodyPr wrap="square" lIns="0" tIns="0" rIns="0" bIns="0" rtlCol="0" anchor="t"/>
          <a:lstStyle/>
          <a:p>
            <a:pPr indent="0" marL="0">
              <a:buNone/>
            </a:pPr>
            <a:r>
              <a:rPr lang="en-US" sz="1300" dirty="0">
                <a:solidFill>
                  <a:srgbClr val="A5B4CC"/>
                </a:solidFill>
                <a:latin typeface="Calibri" pitchFamily="34" charset="0"/>
                <a:ea typeface="Calibri" pitchFamily="34" charset="-122"/>
                <a:cs typeface="Calibri" pitchFamily="34" charset="-120"/>
              </a:rPr>
              <a:t>Less manual sorting, faster replies</a:t>
            </a:r>
            <a:endParaRPr lang="en-US" sz="13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Our solution: the journey of one message</a:t>
            </a:r>
            <a:endParaRPr lang="en-US" sz="3000" dirty="0"/>
          </a:p>
        </p:txBody>
      </p:sp>
      <p:sp>
        <p:nvSpPr>
          <p:cNvPr id="3" name="Shape 1"/>
          <p:cNvSpPr/>
          <p:nvPr/>
        </p:nvSpPr>
        <p:spPr>
          <a:xfrm>
            <a:off x="548640" y="1463040"/>
            <a:ext cx="2606040" cy="2926080"/>
          </a:xfrm>
          <a:prstGeom prst="roundRect">
            <a:avLst>
              <a:gd name="adj" fmla="val 4211"/>
            </a:avLst>
          </a:prstGeom>
          <a:solidFill>
            <a:srgbClr val="F4F6FB"/>
          </a:solidFill>
          <a:ln w="12700">
            <a:solidFill>
              <a:srgbClr val="F4F6FB"/>
            </a:solidFill>
            <a:prstDash val="solid"/>
          </a:ln>
        </p:spPr>
      </p:sp>
      <p:sp>
        <p:nvSpPr>
          <p:cNvPr id="4" name="Shape 2"/>
          <p:cNvSpPr/>
          <p:nvPr/>
        </p:nvSpPr>
        <p:spPr>
          <a:xfrm>
            <a:off x="822960" y="1737360"/>
            <a:ext cx="640080" cy="64008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976579" y="1890979"/>
            <a:ext cx="332842" cy="332842"/>
          </a:xfrm>
          <a:prstGeom prst="rect">
            <a:avLst/>
          </a:prstGeom>
        </p:spPr>
      </p:pic>
      <p:sp>
        <p:nvSpPr>
          <p:cNvPr id="6" name="Text 3"/>
          <p:cNvSpPr txBox="1"/>
          <p:nvPr/>
        </p:nvSpPr>
        <p:spPr>
          <a:xfrm>
            <a:off x="822960" y="2560320"/>
            <a:ext cx="2194560" cy="54864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1. Hide personal details</a:t>
            </a:r>
            <a:endParaRPr lang="en-US" sz="1600" dirty="0"/>
          </a:p>
        </p:txBody>
      </p:sp>
      <p:sp>
        <p:nvSpPr>
          <p:cNvPr id="7" name="Text 4"/>
          <p:cNvSpPr txBox="1"/>
          <p:nvPr/>
        </p:nvSpPr>
        <p:spPr>
          <a:xfrm>
            <a:off x="822960" y="3108960"/>
            <a:ext cx="2148840" cy="11887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Card numbers, account numbers, emails and phone numbers are replaced with labels like [CARD] before anything is saved.</a:t>
            </a:r>
            <a:endParaRPr lang="en-US" sz="1300" dirty="0"/>
          </a:p>
        </p:txBody>
      </p:sp>
      <p:sp>
        <p:nvSpPr>
          <p:cNvPr id="8" name="Shape 5"/>
          <p:cNvSpPr/>
          <p:nvPr/>
        </p:nvSpPr>
        <p:spPr>
          <a:xfrm>
            <a:off x="3182112" y="2926080"/>
            <a:ext cx="146304" cy="0"/>
          </a:xfrm>
          <a:prstGeom prst="line">
            <a:avLst/>
          </a:prstGeom>
          <a:noFill/>
          <a:ln w="25400">
            <a:solidFill>
              <a:srgbClr val="4F46E5"/>
            </a:solidFill>
            <a:prstDash val="solid"/>
            <a:tailEnd type="triangle"/>
          </a:ln>
        </p:spPr>
      </p:sp>
      <p:sp>
        <p:nvSpPr>
          <p:cNvPr id="9" name="Shape 6"/>
          <p:cNvSpPr/>
          <p:nvPr/>
        </p:nvSpPr>
        <p:spPr>
          <a:xfrm>
            <a:off x="3355848" y="1463040"/>
            <a:ext cx="2606040" cy="2926080"/>
          </a:xfrm>
          <a:prstGeom prst="roundRect">
            <a:avLst>
              <a:gd name="adj" fmla="val 4211"/>
            </a:avLst>
          </a:prstGeom>
          <a:solidFill>
            <a:srgbClr val="F4F6FB"/>
          </a:solidFill>
          <a:ln w="12700">
            <a:solidFill>
              <a:srgbClr val="F4F6FB"/>
            </a:solidFill>
            <a:prstDash val="solid"/>
          </a:ln>
        </p:spPr>
      </p:sp>
      <p:sp>
        <p:nvSpPr>
          <p:cNvPr id="10" name="Shape 7"/>
          <p:cNvSpPr/>
          <p:nvPr/>
        </p:nvSpPr>
        <p:spPr>
          <a:xfrm>
            <a:off x="3630168" y="1737360"/>
            <a:ext cx="640080" cy="640080"/>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3783787" y="1890979"/>
            <a:ext cx="332842" cy="332842"/>
          </a:xfrm>
          <a:prstGeom prst="rect">
            <a:avLst/>
          </a:prstGeom>
        </p:spPr>
      </p:pic>
      <p:sp>
        <p:nvSpPr>
          <p:cNvPr id="12" name="Text 8"/>
          <p:cNvSpPr txBox="1"/>
          <p:nvPr/>
        </p:nvSpPr>
        <p:spPr>
          <a:xfrm>
            <a:off x="3630168" y="2560320"/>
            <a:ext cx="2194560" cy="54864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2. Understand the message</a:t>
            </a:r>
            <a:endParaRPr lang="en-US" sz="1600" dirty="0"/>
          </a:p>
        </p:txBody>
      </p:sp>
      <p:sp>
        <p:nvSpPr>
          <p:cNvPr id="13" name="Text 9"/>
          <p:cNvSpPr txBox="1"/>
          <p:nvPr/>
        </p:nvSpPr>
        <p:spPr>
          <a:xfrm>
            <a:off x="3630168" y="3108960"/>
            <a:ext cx="2148840" cy="11887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The system picks one of 5 categories and one of 83 specific topics.</a:t>
            </a:r>
            <a:endParaRPr lang="en-US" sz="1300" dirty="0"/>
          </a:p>
        </p:txBody>
      </p:sp>
      <p:sp>
        <p:nvSpPr>
          <p:cNvPr id="14" name="Shape 10"/>
          <p:cNvSpPr/>
          <p:nvPr/>
        </p:nvSpPr>
        <p:spPr>
          <a:xfrm>
            <a:off x="5989320" y="2926080"/>
            <a:ext cx="146304" cy="0"/>
          </a:xfrm>
          <a:prstGeom prst="line">
            <a:avLst/>
          </a:prstGeom>
          <a:noFill/>
          <a:ln w="25400">
            <a:solidFill>
              <a:srgbClr val="4F46E5"/>
            </a:solidFill>
            <a:prstDash val="solid"/>
            <a:tailEnd type="triangle"/>
          </a:ln>
        </p:spPr>
      </p:sp>
      <p:sp>
        <p:nvSpPr>
          <p:cNvPr id="15" name="Shape 11"/>
          <p:cNvSpPr/>
          <p:nvPr/>
        </p:nvSpPr>
        <p:spPr>
          <a:xfrm>
            <a:off x="6163056" y="1463040"/>
            <a:ext cx="2606040" cy="2926080"/>
          </a:xfrm>
          <a:prstGeom prst="roundRect">
            <a:avLst>
              <a:gd name="adj" fmla="val 4211"/>
            </a:avLst>
          </a:prstGeom>
          <a:solidFill>
            <a:srgbClr val="F4F6FB"/>
          </a:solidFill>
          <a:ln w="12700">
            <a:solidFill>
              <a:srgbClr val="F4F6FB"/>
            </a:solidFill>
            <a:prstDash val="solid"/>
          </a:ln>
        </p:spPr>
      </p:sp>
      <p:sp>
        <p:nvSpPr>
          <p:cNvPr id="16" name="Shape 12"/>
          <p:cNvSpPr/>
          <p:nvPr/>
        </p:nvSpPr>
        <p:spPr>
          <a:xfrm>
            <a:off x="6437376" y="1737360"/>
            <a:ext cx="640080" cy="640080"/>
          </a:xfrm>
          <a:prstGeom prst="ellipse">
            <a:avLst/>
          </a:prstGeom>
          <a:solidFill>
            <a:srgbClr val="4F46E5"/>
          </a:solidFill>
          <a:ln w="12700">
            <a:solidFill>
              <a:srgbClr val="4F46E5"/>
            </a:solidFill>
            <a:prstDash val="solid"/>
          </a:ln>
        </p:spPr>
      </p:sp>
      <p:pic>
        <p:nvPicPr>
          <p:cNvPr id="17" name="Image 2" descr="preencoded.png">    </p:cNvPr>
          <p:cNvPicPr>
            <a:picLocks noChangeAspect="1"/>
          </p:cNvPicPr>
          <p:nvPr/>
        </p:nvPicPr>
        <p:blipFill>
          <a:blip r:embed="rId3"/>
          <a:stretch>
            <a:fillRect/>
          </a:stretch>
        </p:blipFill>
        <p:spPr>
          <a:xfrm>
            <a:off x="6590995" y="1890979"/>
            <a:ext cx="332842" cy="332842"/>
          </a:xfrm>
          <a:prstGeom prst="rect">
            <a:avLst/>
          </a:prstGeom>
        </p:spPr>
      </p:pic>
      <p:sp>
        <p:nvSpPr>
          <p:cNvPr id="18" name="Text 13"/>
          <p:cNvSpPr txBox="1"/>
          <p:nvPr/>
        </p:nvSpPr>
        <p:spPr>
          <a:xfrm>
            <a:off x="6437376" y="2560320"/>
            <a:ext cx="2194560" cy="54864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3. Apply the bank's rules</a:t>
            </a:r>
            <a:endParaRPr lang="en-US" sz="1600" dirty="0"/>
          </a:p>
        </p:txBody>
      </p:sp>
      <p:sp>
        <p:nvSpPr>
          <p:cNvPr id="19" name="Text 14"/>
          <p:cNvSpPr txBox="1"/>
          <p:nvPr/>
        </p:nvSpPr>
        <p:spPr>
          <a:xfrm>
            <a:off x="6437376" y="3108960"/>
            <a:ext cx="2148840" cy="11887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Unsure messages go to a person. Clear fraud phrases always go to the fraud team.</a:t>
            </a:r>
            <a:endParaRPr lang="en-US" sz="1300" dirty="0"/>
          </a:p>
        </p:txBody>
      </p:sp>
      <p:sp>
        <p:nvSpPr>
          <p:cNvPr id="20" name="Shape 15"/>
          <p:cNvSpPr/>
          <p:nvPr/>
        </p:nvSpPr>
        <p:spPr>
          <a:xfrm>
            <a:off x="8796528" y="2926080"/>
            <a:ext cx="146304" cy="0"/>
          </a:xfrm>
          <a:prstGeom prst="line">
            <a:avLst/>
          </a:prstGeom>
          <a:noFill/>
          <a:ln w="25400">
            <a:solidFill>
              <a:srgbClr val="4F46E5"/>
            </a:solidFill>
            <a:prstDash val="solid"/>
            <a:tailEnd type="triangle"/>
          </a:ln>
        </p:spPr>
      </p:sp>
      <p:sp>
        <p:nvSpPr>
          <p:cNvPr id="21" name="Shape 16"/>
          <p:cNvSpPr/>
          <p:nvPr/>
        </p:nvSpPr>
        <p:spPr>
          <a:xfrm>
            <a:off x="8970264" y="1463040"/>
            <a:ext cx="2606040" cy="2926080"/>
          </a:xfrm>
          <a:prstGeom prst="roundRect">
            <a:avLst>
              <a:gd name="adj" fmla="val 4211"/>
            </a:avLst>
          </a:prstGeom>
          <a:solidFill>
            <a:srgbClr val="F4F6FB"/>
          </a:solidFill>
          <a:ln w="12700">
            <a:solidFill>
              <a:srgbClr val="F4F6FB"/>
            </a:solidFill>
            <a:prstDash val="solid"/>
          </a:ln>
        </p:spPr>
      </p:sp>
      <p:sp>
        <p:nvSpPr>
          <p:cNvPr id="22" name="Shape 17"/>
          <p:cNvSpPr/>
          <p:nvPr/>
        </p:nvSpPr>
        <p:spPr>
          <a:xfrm>
            <a:off x="9244584" y="1737360"/>
            <a:ext cx="640080" cy="640080"/>
          </a:xfrm>
          <a:prstGeom prst="ellipse">
            <a:avLst/>
          </a:prstGeom>
          <a:solidFill>
            <a:srgbClr val="4F46E5"/>
          </a:solidFill>
          <a:ln w="12700">
            <a:solidFill>
              <a:srgbClr val="4F46E5"/>
            </a:solidFill>
            <a:prstDash val="solid"/>
          </a:ln>
        </p:spPr>
      </p:sp>
      <p:pic>
        <p:nvPicPr>
          <p:cNvPr id="23" name="Image 3" descr="preencoded.png">    </p:cNvPr>
          <p:cNvPicPr>
            <a:picLocks noChangeAspect="1"/>
          </p:cNvPicPr>
          <p:nvPr/>
        </p:nvPicPr>
        <p:blipFill>
          <a:blip r:embed="rId4"/>
          <a:stretch>
            <a:fillRect/>
          </a:stretch>
        </p:blipFill>
        <p:spPr>
          <a:xfrm>
            <a:off x="9398203" y="1890979"/>
            <a:ext cx="332842" cy="332842"/>
          </a:xfrm>
          <a:prstGeom prst="rect">
            <a:avLst/>
          </a:prstGeom>
        </p:spPr>
      </p:pic>
      <p:sp>
        <p:nvSpPr>
          <p:cNvPr id="24" name="Text 18"/>
          <p:cNvSpPr txBox="1"/>
          <p:nvPr/>
        </p:nvSpPr>
        <p:spPr>
          <a:xfrm>
            <a:off x="9244584" y="2560320"/>
            <a:ext cx="2194560" cy="54864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4. Create a ticket</a:t>
            </a:r>
            <a:endParaRPr lang="en-US" sz="1600" dirty="0"/>
          </a:p>
        </p:txBody>
      </p:sp>
      <p:sp>
        <p:nvSpPr>
          <p:cNvPr id="25" name="Text 19"/>
          <p:cNvSpPr txBox="1"/>
          <p:nvPr/>
        </p:nvSpPr>
        <p:spPr>
          <a:xfrm>
            <a:off x="9244584" y="3108960"/>
            <a:ext cx="2148840" cy="11887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The right team gets it with a priority and a reply deadline.</a:t>
            </a:r>
            <a:endParaRPr lang="en-US" sz="1300" dirty="0"/>
          </a:p>
        </p:txBody>
      </p:sp>
      <p:sp>
        <p:nvSpPr>
          <p:cNvPr id="26" name="Text 20"/>
          <p:cNvSpPr txBox="1"/>
          <p:nvPr/>
        </p:nvSpPr>
        <p:spPr>
          <a:xfrm>
            <a:off x="548640" y="4754880"/>
            <a:ext cx="11064240" cy="41148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Like a post office sorting desk: every letter is read once, stamped, and dropped into the right team's tray.</a:t>
            </a:r>
            <a:endParaRPr lang="en-US" sz="1600" dirty="0"/>
          </a:p>
        </p:txBody>
      </p:sp>
      <p:sp>
        <p:nvSpPr>
          <p:cNvPr id="27" name="Text 21"/>
          <p:cNvSpPr txBox="1"/>
          <p:nvPr/>
        </p:nvSpPr>
        <p:spPr>
          <a:xfrm>
            <a:off x="548640" y="5212080"/>
            <a:ext cx="11064240" cy="41148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The message is sorted the moment it arrives, and an agent who corrects a mistake teaches the next version of the system.</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The data: 13,083 real customer messages</a:t>
            </a:r>
            <a:endParaRPr lang="en-US" sz="3000" dirty="0"/>
          </a:p>
        </p:txBody>
      </p:sp>
      <p:sp>
        <p:nvSpPr>
          <p:cNvPr id="3" name="Text 1"/>
          <p:cNvSpPr txBox="1"/>
          <p:nvPr/>
        </p:nvSpPr>
        <p:spPr>
          <a:xfrm>
            <a:off x="548640" y="1280160"/>
            <a:ext cx="5029200" cy="137160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We used Banking77, a free public dataset made by PolyAI (2020). It contains real questions customers wrote to a digital bank, with typos and short chat-style wording, already labelled with 77 topics.</a:t>
            </a:r>
            <a:endParaRPr lang="en-US" sz="1600" dirty="0"/>
          </a:p>
        </p:txBody>
      </p:sp>
      <p:sp>
        <p:nvSpPr>
          <p:cNvPr id="4" name="Text 2"/>
          <p:cNvSpPr txBox="1"/>
          <p:nvPr/>
        </p:nvSpPr>
        <p:spPr>
          <a:xfrm>
            <a:off x="548640" y="2743200"/>
            <a:ext cx="50292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726"/>
                </a:solidFill>
                <a:latin typeface="Calibri" pitchFamily="34" charset="0"/>
                <a:ea typeface="Calibri" pitchFamily="34" charset="-122"/>
                <a:cs typeface="Calibri" pitchFamily="34" charset="-120"/>
              </a:rPr>
              <a:t>Real customer wording, not textbook sentences</a:t>
            </a:r>
            <a:endParaRPr lang="en-US" sz="1500" dirty="0"/>
          </a:p>
          <a:p>
            <a:pPr marL="342900" indent="-342900">
              <a:spcAft>
                <a:spcPts val="600"/>
              </a:spcAft>
              <a:buSzPct val="100000"/>
              <a:buChar char="•"/>
            </a:pPr>
            <a:r>
              <a:rPr lang="en-US" sz="1500" dirty="0">
                <a:solidFill>
                  <a:srgbClr val="0E1726"/>
                </a:solidFill>
                <a:latin typeface="Calibri" pitchFamily="34" charset="0"/>
                <a:ea typeface="Calibri" pitchFamily="34" charset="-122"/>
                <a:cs typeface="Calibri" pitchFamily="34" charset="-120"/>
              </a:rPr>
              <a:t>All about banking</a:t>
            </a:r>
            <a:endParaRPr lang="en-US" sz="1500" dirty="0"/>
          </a:p>
          <a:p>
            <a:pPr marL="342900" indent="-342900">
              <a:spcAft>
                <a:spcPts val="600"/>
              </a:spcAft>
              <a:buSzPct val="100000"/>
              <a:buChar char="•"/>
            </a:pPr>
            <a:r>
              <a:rPr lang="en-US" sz="1500" dirty="0">
                <a:solidFill>
                  <a:srgbClr val="0E1726"/>
                </a:solidFill>
                <a:latin typeface="Calibri" pitchFamily="34" charset="0"/>
                <a:ea typeface="Calibri" pitchFamily="34" charset="-122"/>
                <a:cs typeface="Calibri" pitchFamily="34" charset="-120"/>
              </a:rPr>
              <a:t>Free to use (CC BY 4.0 licence)</a:t>
            </a:r>
            <a:endParaRPr lang="en-US" sz="1500" dirty="0"/>
          </a:p>
          <a:p>
            <a:pPr marL="342900" indent="-342900">
              <a:spcAft>
                <a:spcPts val="600"/>
              </a:spcAft>
              <a:buSzPct val="100000"/>
              <a:buChar char="•"/>
            </a:pPr>
            <a:r>
              <a:rPr lang="en-US" sz="1500" dirty="0">
                <a:solidFill>
                  <a:srgbClr val="0E1726"/>
                </a:solidFill>
                <a:latin typeface="Calibri" pitchFamily="34" charset="0"/>
                <a:ea typeface="Calibri" pitchFamily="34" charset="-122"/>
                <a:cs typeface="Calibri" pitchFamily="34" charset="-120"/>
              </a:rPr>
              <a:t>Already labelled, and widely used for this exact task</a:t>
            </a:r>
            <a:endParaRPr lang="en-US" sz="1500" dirty="0"/>
          </a:p>
        </p:txBody>
      </p:sp>
      <p:sp>
        <p:nvSpPr>
          <p:cNvPr id="5" name="Shape 3"/>
          <p:cNvSpPr/>
          <p:nvPr/>
        </p:nvSpPr>
        <p:spPr>
          <a:xfrm>
            <a:off x="548640" y="4434840"/>
            <a:ext cx="5029200" cy="1600200"/>
          </a:xfrm>
          <a:prstGeom prst="roundRect">
            <a:avLst>
              <a:gd name="adj" fmla="val 6857"/>
            </a:avLst>
          </a:prstGeom>
          <a:solidFill>
            <a:srgbClr val="FFF7ED"/>
          </a:solidFill>
          <a:ln w="12700">
            <a:solidFill>
              <a:srgbClr val="FFF7ED"/>
            </a:solidFill>
            <a:prstDash val="solid"/>
          </a:ln>
        </p:spPr>
      </p:sp>
      <p:sp>
        <p:nvSpPr>
          <p:cNvPr id="6" name="Text 4"/>
          <p:cNvSpPr txBox="1"/>
          <p:nvPr/>
        </p:nvSpPr>
        <p:spPr>
          <a:xfrm>
            <a:off x="777240" y="4572000"/>
            <a:ext cx="4572000" cy="320040"/>
          </a:xfrm>
          <a:prstGeom prst="rect">
            <a:avLst/>
          </a:prstGeom>
          <a:noFill/>
          <a:ln/>
        </p:spPr>
        <p:txBody>
          <a:bodyPr wrap="square" lIns="0" tIns="0" rIns="0" bIns="0" rtlCol="0" anchor="t"/>
          <a:lstStyle/>
          <a:p>
            <a:pPr indent="0" marL="0">
              <a:buNone/>
            </a:pPr>
            <a:r>
              <a:rPr lang="en-US" sz="1500" b="1" dirty="0">
                <a:solidFill>
                  <a:srgbClr val="A86B12"/>
                </a:solidFill>
                <a:latin typeface="Calibri" pitchFamily="34" charset="0"/>
                <a:ea typeface="Calibri" pitchFamily="34" charset="-122"/>
                <a:cs typeface="Calibri" pitchFamily="34" charset="-120"/>
              </a:rPr>
              <a:t>The gap: Banking77 has no loan questions at all</a:t>
            </a:r>
            <a:endParaRPr lang="en-US" sz="1500" dirty="0"/>
          </a:p>
        </p:txBody>
      </p:sp>
      <p:sp>
        <p:nvSpPr>
          <p:cNvPr id="7" name="Text 5"/>
          <p:cNvSpPr txBox="1"/>
          <p:nvPr/>
        </p:nvSpPr>
        <p:spPr>
          <a:xfrm>
            <a:off x="777240" y="4919472"/>
            <a:ext cx="4572000" cy="105156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We wrote 60 loan question templates across 6 loan topics. Test templates are kept apart from training ones. These are cleaner than real messages, so the loan score is optimistic.</a:t>
            </a:r>
            <a:endParaRPr lang="en-US" sz="1300" dirty="0"/>
          </a:p>
        </p:txBody>
      </p:sp>
      <p:sp>
        <p:nvSpPr>
          <p:cNvPr id="8" name="Text 6"/>
          <p:cNvSpPr txBox="1"/>
          <p:nvPr/>
        </p:nvSpPr>
        <p:spPr>
          <a:xfrm>
            <a:off x="6217920" y="1280160"/>
            <a:ext cx="5394960" cy="36576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77 topics grouped into our 5 categories</a:t>
            </a:r>
            <a:endParaRPr lang="en-US" sz="1600" dirty="0"/>
          </a:p>
        </p:txBody>
      </p:sp>
      <p:sp>
        <p:nvSpPr>
          <p:cNvPr id="9" name="Shape 7"/>
          <p:cNvSpPr/>
          <p:nvPr/>
        </p:nvSpPr>
        <p:spPr>
          <a:xfrm>
            <a:off x="6217920" y="1783080"/>
            <a:ext cx="5422392" cy="713232"/>
          </a:xfrm>
          <a:prstGeom prst="roundRect">
            <a:avLst>
              <a:gd name="adj" fmla="val 15385"/>
            </a:avLst>
          </a:prstGeom>
          <a:solidFill>
            <a:srgbClr val="F4F6FB"/>
          </a:solidFill>
          <a:ln w="12700">
            <a:solidFill>
              <a:srgbClr val="F4F6FB"/>
            </a:solidFill>
            <a:prstDash val="solid"/>
          </a:ln>
        </p:spPr>
      </p:sp>
      <p:sp>
        <p:nvSpPr>
          <p:cNvPr id="10" name="Shape 8"/>
          <p:cNvSpPr/>
          <p:nvPr/>
        </p:nvSpPr>
        <p:spPr>
          <a:xfrm>
            <a:off x="6382512" y="1929384"/>
            <a:ext cx="868680" cy="420624"/>
          </a:xfrm>
          <a:prstGeom prst="roundRect">
            <a:avLst>
              <a:gd name="adj" fmla="val 21739"/>
            </a:avLst>
          </a:prstGeom>
          <a:solidFill>
            <a:srgbClr val="00806A"/>
          </a:solidFill>
          <a:ln w="12700">
            <a:solidFill>
              <a:srgbClr val="00806A"/>
            </a:solidFill>
            <a:prstDash val="solid"/>
          </a:ln>
        </p:spPr>
      </p:sp>
      <p:sp>
        <p:nvSpPr>
          <p:cNvPr id="11" name="Text 9"/>
          <p:cNvSpPr txBox="1"/>
          <p:nvPr/>
        </p:nvSpPr>
        <p:spPr>
          <a:xfrm>
            <a:off x="6382512" y="1929384"/>
            <a:ext cx="868680"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37</a:t>
            </a:r>
            <a:endParaRPr lang="en-US" sz="1800" dirty="0"/>
          </a:p>
        </p:txBody>
      </p:sp>
      <p:sp>
        <p:nvSpPr>
          <p:cNvPr id="12" name="Text 10"/>
          <p:cNvSpPr txBox="1"/>
          <p:nvPr/>
        </p:nvSpPr>
        <p:spPr>
          <a:xfrm>
            <a:off x="7406640" y="1856232"/>
            <a:ext cx="39319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Payments</a:t>
            </a:r>
            <a:endParaRPr lang="en-US" sz="1500" dirty="0"/>
          </a:p>
        </p:txBody>
      </p:sp>
      <p:sp>
        <p:nvSpPr>
          <p:cNvPr id="13" name="Text 11"/>
          <p:cNvSpPr txBox="1"/>
          <p:nvPr/>
        </p:nvSpPr>
        <p:spPr>
          <a:xfrm>
            <a:off x="7406640" y="2157984"/>
            <a:ext cx="411480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transfers, top-ups, refunds, fees</a:t>
            </a:r>
            <a:endParaRPr lang="en-US" sz="1200" dirty="0"/>
          </a:p>
        </p:txBody>
      </p:sp>
      <p:sp>
        <p:nvSpPr>
          <p:cNvPr id="14" name="Shape 12"/>
          <p:cNvSpPr/>
          <p:nvPr/>
        </p:nvSpPr>
        <p:spPr>
          <a:xfrm>
            <a:off x="6217920" y="2633472"/>
            <a:ext cx="5422392" cy="713232"/>
          </a:xfrm>
          <a:prstGeom prst="roundRect">
            <a:avLst>
              <a:gd name="adj" fmla="val 15385"/>
            </a:avLst>
          </a:prstGeom>
          <a:solidFill>
            <a:srgbClr val="F4F6FB"/>
          </a:solidFill>
          <a:ln w="12700">
            <a:solidFill>
              <a:srgbClr val="F4F6FB"/>
            </a:solidFill>
            <a:prstDash val="solid"/>
          </a:ln>
        </p:spPr>
      </p:sp>
      <p:sp>
        <p:nvSpPr>
          <p:cNvPr id="15" name="Shape 13"/>
          <p:cNvSpPr/>
          <p:nvPr/>
        </p:nvSpPr>
        <p:spPr>
          <a:xfrm>
            <a:off x="6382512" y="2779776"/>
            <a:ext cx="868680" cy="420624"/>
          </a:xfrm>
          <a:prstGeom prst="roundRect">
            <a:avLst>
              <a:gd name="adj" fmla="val 21739"/>
            </a:avLst>
          </a:prstGeom>
          <a:solidFill>
            <a:srgbClr val="2B4FD8"/>
          </a:solidFill>
          <a:ln w="12700">
            <a:solidFill>
              <a:srgbClr val="2B4FD8"/>
            </a:solidFill>
            <a:prstDash val="solid"/>
          </a:ln>
        </p:spPr>
      </p:sp>
      <p:sp>
        <p:nvSpPr>
          <p:cNvPr id="16" name="Text 14"/>
          <p:cNvSpPr txBox="1"/>
          <p:nvPr/>
        </p:nvSpPr>
        <p:spPr>
          <a:xfrm>
            <a:off x="6382512" y="2779776"/>
            <a:ext cx="868680"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24</a:t>
            </a:r>
            <a:endParaRPr lang="en-US" sz="1800" dirty="0"/>
          </a:p>
        </p:txBody>
      </p:sp>
      <p:sp>
        <p:nvSpPr>
          <p:cNvPr id="17" name="Text 15"/>
          <p:cNvSpPr txBox="1"/>
          <p:nvPr/>
        </p:nvSpPr>
        <p:spPr>
          <a:xfrm>
            <a:off x="7406640" y="2706624"/>
            <a:ext cx="39319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Cards</a:t>
            </a:r>
            <a:endParaRPr lang="en-US" sz="1500" dirty="0"/>
          </a:p>
        </p:txBody>
      </p:sp>
      <p:sp>
        <p:nvSpPr>
          <p:cNvPr id="18" name="Text 16"/>
          <p:cNvSpPr txBox="1"/>
          <p:nvPr/>
        </p:nvSpPr>
        <p:spPr>
          <a:xfrm>
            <a:off x="7406640" y="3008376"/>
            <a:ext cx="411480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ordering, PINs, ATMs, card not working</a:t>
            </a:r>
            <a:endParaRPr lang="en-US" sz="1200" dirty="0"/>
          </a:p>
        </p:txBody>
      </p:sp>
      <p:sp>
        <p:nvSpPr>
          <p:cNvPr id="19" name="Shape 17"/>
          <p:cNvSpPr/>
          <p:nvPr/>
        </p:nvSpPr>
        <p:spPr>
          <a:xfrm>
            <a:off x="6217920" y="3483864"/>
            <a:ext cx="5422392" cy="713232"/>
          </a:xfrm>
          <a:prstGeom prst="roundRect">
            <a:avLst>
              <a:gd name="adj" fmla="val 15385"/>
            </a:avLst>
          </a:prstGeom>
          <a:solidFill>
            <a:srgbClr val="F4F6FB"/>
          </a:solidFill>
          <a:ln w="12700">
            <a:solidFill>
              <a:srgbClr val="F4F6FB"/>
            </a:solidFill>
            <a:prstDash val="solid"/>
          </a:ln>
        </p:spPr>
      </p:sp>
      <p:sp>
        <p:nvSpPr>
          <p:cNvPr id="20" name="Shape 18"/>
          <p:cNvSpPr/>
          <p:nvPr/>
        </p:nvSpPr>
        <p:spPr>
          <a:xfrm>
            <a:off x="6382512" y="3630168"/>
            <a:ext cx="868680" cy="420624"/>
          </a:xfrm>
          <a:prstGeom prst="roundRect">
            <a:avLst>
              <a:gd name="adj" fmla="val 21739"/>
            </a:avLst>
          </a:prstGeom>
          <a:solidFill>
            <a:srgbClr val="7A3E9D"/>
          </a:solidFill>
          <a:ln w="12700">
            <a:solidFill>
              <a:srgbClr val="7A3E9D"/>
            </a:solidFill>
            <a:prstDash val="solid"/>
          </a:ln>
        </p:spPr>
      </p:sp>
      <p:sp>
        <p:nvSpPr>
          <p:cNvPr id="21" name="Text 19"/>
          <p:cNvSpPr txBox="1"/>
          <p:nvPr/>
        </p:nvSpPr>
        <p:spPr>
          <a:xfrm>
            <a:off x="6382512" y="3630168"/>
            <a:ext cx="868680"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22" name="Text 20"/>
          <p:cNvSpPr txBox="1"/>
          <p:nvPr/>
        </p:nvSpPr>
        <p:spPr>
          <a:xfrm>
            <a:off x="7406640" y="3557016"/>
            <a:ext cx="39319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Account issues</a:t>
            </a:r>
            <a:endParaRPr lang="en-US" sz="1500" dirty="0"/>
          </a:p>
        </p:txBody>
      </p:sp>
      <p:sp>
        <p:nvSpPr>
          <p:cNvPr id="23" name="Text 21"/>
          <p:cNvSpPr txBox="1"/>
          <p:nvPr/>
        </p:nvSpPr>
        <p:spPr>
          <a:xfrm>
            <a:off x="7406640" y="3858768"/>
            <a:ext cx="411480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identity checks, details, closing</a:t>
            </a:r>
            <a:endParaRPr lang="en-US" sz="1200" dirty="0"/>
          </a:p>
        </p:txBody>
      </p:sp>
      <p:sp>
        <p:nvSpPr>
          <p:cNvPr id="24" name="Shape 22"/>
          <p:cNvSpPr/>
          <p:nvPr/>
        </p:nvSpPr>
        <p:spPr>
          <a:xfrm>
            <a:off x="6217920" y="4334256"/>
            <a:ext cx="5422392" cy="713232"/>
          </a:xfrm>
          <a:prstGeom prst="roundRect">
            <a:avLst>
              <a:gd name="adj" fmla="val 15385"/>
            </a:avLst>
          </a:prstGeom>
          <a:solidFill>
            <a:srgbClr val="F4F6FB"/>
          </a:solidFill>
          <a:ln w="12700">
            <a:solidFill>
              <a:srgbClr val="F4F6FB"/>
            </a:solidFill>
            <a:prstDash val="solid"/>
          </a:ln>
        </p:spPr>
      </p:sp>
      <p:sp>
        <p:nvSpPr>
          <p:cNvPr id="25" name="Shape 23"/>
          <p:cNvSpPr/>
          <p:nvPr/>
        </p:nvSpPr>
        <p:spPr>
          <a:xfrm>
            <a:off x="6382512" y="4480560"/>
            <a:ext cx="868680" cy="420624"/>
          </a:xfrm>
          <a:prstGeom prst="roundRect">
            <a:avLst>
              <a:gd name="adj" fmla="val 21739"/>
            </a:avLst>
          </a:prstGeom>
          <a:solidFill>
            <a:srgbClr val="C81E33"/>
          </a:solidFill>
          <a:ln w="12700">
            <a:solidFill>
              <a:srgbClr val="C81E33"/>
            </a:solidFill>
            <a:prstDash val="solid"/>
          </a:ln>
        </p:spPr>
      </p:sp>
      <p:sp>
        <p:nvSpPr>
          <p:cNvPr id="26" name="Text 24"/>
          <p:cNvSpPr txBox="1"/>
          <p:nvPr/>
        </p:nvSpPr>
        <p:spPr>
          <a:xfrm>
            <a:off x="6382512" y="4480560"/>
            <a:ext cx="868680"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7" name="Text 25"/>
          <p:cNvSpPr txBox="1"/>
          <p:nvPr/>
        </p:nvSpPr>
        <p:spPr>
          <a:xfrm>
            <a:off x="7406640" y="4407408"/>
            <a:ext cx="39319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Fraud</a:t>
            </a:r>
            <a:endParaRPr lang="en-US" sz="1500" dirty="0"/>
          </a:p>
        </p:txBody>
      </p:sp>
      <p:sp>
        <p:nvSpPr>
          <p:cNvPr id="28" name="Text 26"/>
          <p:cNvSpPr txBox="1"/>
          <p:nvPr/>
        </p:nvSpPr>
        <p:spPr>
          <a:xfrm>
            <a:off x="7406640" y="4709160"/>
            <a:ext cx="411480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payments not recognised, stolen card</a:t>
            </a:r>
            <a:endParaRPr lang="en-US" sz="1200" dirty="0"/>
          </a:p>
        </p:txBody>
      </p:sp>
      <p:sp>
        <p:nvSpPr>
          <p:cNvPr id="29" name="Shape 27"/>
          <p:cNvSpPr/>
          <p:nvPr/>
        </p:nvSpPr>
        <p:spPr>
          <a:xfrm>
            <a:off x="6217920" y="5184648"/>
            <a:ext cx="5422392" cy="713232"/>
          </a:xfrm>
          <a:prstGeom prst="roundRect">
            <a:avLst>
              <a:gd name="adj" fmla="val 15385"/>
            </a:avLst>
          </a:prstGeom>
          <a:solidFill>
            <a:srgbClr val="F4F6FB"/>
          </a:solidFill>
          <a:ln w="12700">
            <a:solidFill>
              <a:srgbClr val="F4F6FB"/>
            </a:solidFill>
            <a:prstDash val="solid"/>
          </a:ln>
        </p:spPr>
      </p:sp>
      <p:sp>
        <p:nvSpPr>
          <p:cNvPr id="30" name="Shape 28"/>
          <p:cNvSpPr/>
          <p:nvPr/>
        </p:nvSpPr>
        <p:spPr>
          <a:xfrm>
            <a:off x="6382512" y="5330952"/>
            <a:ext cx="868680" cy="420624"/>
          </a:xfrm>
          <a:prstGeom prst="roundRect">
            <a:avLst>
              <a:gd name="adj" fmla="val 21739"/>
            </a:avLst>
          </a:prstGeom>
          <a:solidFill>
            <a:srgbClr val="A86B12"/>
          </a:solidFill>
          <a:ln w="12700">
            <a:solidFill>
              <a:srgbClr val="A86B12"/>
            </a:solidFill>
            <a:prstDash val="solid"/>
          </a:ln>
        </p:spPr>
      </p:sp>
      <p:sp>
        <p:nvSpPr>
          <p:cNvPr id="31" name="Text 29"/>
          <p:cNvSpPr txBox="1"/>
          <p:nvPr/>
        </p:nvSpPr>
        <p:spPr>
          <a:xfrm>
            <a:off x="6382512" y="5330952"/>
            <a:ext cx="868680"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txBox="1"/>
          <p:nvPr/>
        </p:nvSpPr>
        <p:spPr>
          <a:xfrm>
            <a:off x="7406640" y="5257800"/>
            <a:ext cx="39319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Loans</a:t>
            </a:r>
            <a:endParaRPr lang="en-US" sz="1500" dirty="0"/>
          </a:p>
        </p:txBody>
      </p:sp>
      <p:sp>
        <p:nvSpPr>
          <p:cNvPr id="33" name="Text 31"/>
          <p:cNvSpPr txBox="1"/>
          <p:nvPr/>
        </p:nvSpPr>
        <p:spPr>
          <a:xfrm>
            <a:off x="7406640" y="5559552"/>
            <a:ext cx="411480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*from our 60 templates</a:t>
            </a:r>
            <a:endParaRPr lang="en-US" sz="12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After cleaning: 10,519 to learn from, 3,192 to test</a:t>
            </a:r>
            <a:endParaRPr lang="en-US" sz="3000" dirty="0"/>
          </a:p>
        </p:txBody>
      </p:sp>
      <p:sp>
        <p:nvSpPr>
          <p:cNvPr id="3" name="Text 1"/>
          <p:cNvSpPr txBox="1"/>
          <p:nvPr/>
        </p:nvSpPr>
        <p:spPr>
          <a:xfrm>
            <a:off x="548640" y="1234440"/>
            <a:ext cx="11064240" cy="54864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We removed empty rows, duplicates, and any sentence that appeared in both sets, so the test is a fair exam the system has never seen.</a:t>
            </a:r>
            <a:endParaRPr lang="en-US" sz="1600" dirty="0"/>
          </a:p>
        </p:txBody>
      </p:sp>
      <p:graphicFrame>
        <p:nvGraphicFramePr>
          <p:cNvPr id="4" name="Chart 0" descr=""/>
          <p:cNvGraphicFramePr/>
          <p:nvPr/>
        </p:nvGraphicFramePr>
        <p:xfrm>
          <a:off x="548640" y="187452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965960"/>
            <a:ext cx="3410712" cy="1188720"/>
          </a:xfrm>
          <a:prstGeom prst="roundRect">
            <a:avLst>
              <a:gd name="adj" fmla="val 9231"/>
            </a:avLst>
          </a:prstGeom>
          <a:solidFill>
            <a:srgbClr val="F4F6FB"/>
          </a:solidFill>
          <a:ln w="12700">
            <a:solidFill>
              <a:srgbClr val="F4F6FB"/>
            </a:solidFill>
            <a:prstDash val="solid"/>
          </a:ln>
        </p:spPr>
      </p:sp>
      <p:sp>
        <p:nvSpPr>
          <p:cNvPr id="6" name="Text 3"/>
          <p:cNvSpPr txBox="1"/>
          <p:nvPr/>
        </p:nvSpPr>
        <p:spPr>
          <a:xfrm>
            <a:off x="8458200" y="2075688"/>
            <a:ext cx="3017520" cy="457200"/>
          </a:xfrm>
          <a:prstGeom prst="rect">
            <a:avLst/>
          </a:prstGeom>
          <a:noFill/>
          <a:ln/>
        </p:spPr>
        <p:txBody>
          <a:bodyPr wrap="square" lIns="0" tIns="0" rIns="0" bIns="0" rtlCol="0" anchor="t"/>
          <a:lstStyle/>
          <a:p>
            <a:pPr indent="0" marL="0">
              <a:buNone/>
            </a:pPr>
            <a:r>
              <a:rPr lang="en-US" sz="2400" b="1" dirty="0">
                <a:solidFill>
                  <a:srgbClr val="4F46E5"/>
                </a:solidFill>
                <a:latin typeface="Arial" pitchFamily="34" charset="0"/>
                <a:ea typeface="Arial" pitchFamily="34" charset="-122"/>
                <a:cs typeface="Arial" pitchFamily="34" charset="-120"/>
              </a:rPr>
              <a:t>10,519</a:t>
            </a:r>
            <a:endParaRPr lang="en-US" sz="2400" dirty="0"/>
          </a:p>
        </p:txBody>
      </p:sp>
      <p:sp>
        <p:nvSpPr>
          <p:cNvPr id="7" name="Text 4"/>
          <p:cNvSpPr txBox="1"/>
          <p:nvPr/>
        </p:nvSpPr>
        <p:spPr>
          <a:xfrm>
            <a:off x="8458200" y="2514600"/>
            <a:ext cx="3017520" cy="274320"/>
          </a:xfrm>
          <a:prstGeom prst="rect">
            <a:avLst/>
          </a:prstGeom>
          <a:noFill/>
          <a:ln/>
        </p:spPr>
        <p:txBody>
          <a:bodyPr wrap="square" lIns="0" tIns="0" rIns="0" bIns="0" rtlCol="0" anchor="t"/>
          <a:lstStyle/>
          <a:p>
            <a:pPr indent="0" marL="0">
              <a:buNone/>
            </a:pPr>
            <a:r>
              <a:rPr lang="en-US" sz="1300" b="1" dirty="0">
                <a:solidFill>
                  <a:srgbClr val="0E1726"/>
                </a:solidFill>
                <a:latin typeface="Calibri" pitchFamily="34" charset="0"/>
                <a:ea typeface="Calibri" pitchFamily="34" charset="-122"/>
                <a:cs typeface="Calibri" pitchFamily="34" charset="-120"/>
              </a:rPr>
              <a:t>messages to learn from</a:t>
            </a:r>
            <a:endParaRPr lang="en-US" sz="1300" dirty="0"/>
          </a:p>
        </p:txBody>
      </p:sp>
      <p:sp>
        <p:nvSpPr>
          <p:cNvPr id="8" name="Text 5"/>
          <p:cNvSpPr txBox="1"/>
          <p:nvPr/>
        </p:nvSpPr>
        <p:spPr>
          <a:xfrm>
            <a:off x="8458200" y="2788920"/>
            <a:ext cx="3063240" cy="292608"/>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9,974 Banking77 + 544 loan + 1 agent correction</a:t>
            </a:r>
            <a:endParaRPr lang="en-US" sz="1100" dirty="0"/>
          </a:p>
        </p:txBody>
      </p:sp>
      <p:sp>
        <p:nvSpPr>
          <p:cNvPr id="9" name="Shape 6"/>
          <p:cNvSpPr/>
          <p:nvPr/>
        </p:nvSpPr>
        <p:spPr>
          <a:xfrm>
            <a:off x="8229600" y="3337560"/>
            <a:ext cx="3410712" cy="1188720"/>
          </a:xfrm>
          <a:prstGeom prst="roundRect">
            <a:avLst>
              <a:gd name="adj" fmla="val 9231"/>
            </a:avLst>
          </a:prstGeom>
          <a:solidFill>
            <a:srgbClr val="F4F6FB"/>
          </a:solidFill>
          <a:ln w="12700">
            <a:solidFill>
              <a:srgbClr val="F4F6FB"/>
            </a:solidFill>
            <a:prstDash val="solid"/>
          </a:ln>
        </p:spPr>
      </p:sp>
      <p:sp>
        <p:nvSpPr>
          <p:cNvPr id="10" name="Text 7"/>
          <p:cNvSpPr txBox="1"/>
          <p:nvPr/>
        </p:nvSpPr>
        <p:spPr>
          <a:xfrm>
            <a:off x="8458200" y="3447288"/>
            <a:ext cx="3017520" cy="457200"/>
          </a:xfrm>
          <a:prstGeom prst="rect">
            <a:avLst/>
          </a:prstGeom>
          <a:noFill/>
          <a:ln/>
        </p:spPr>
        <p:txBody>
          <a:bodyPr wrap="square" lIns="0" tIns="0" rIns="0" bIns="0" rtlCol="0" anchor="t"/>
          <a:lstStyle/>
          <a:p>
            <a:pPr indent="0" marL="0">
              <a:buNone/>
            </a:pPr>
            <a:r>
              <a:rPr lang="en-US" sz="2400" b="1" dirty="0">
                <a:solidFill>
                  <a:srgbClr val="4F46E5"/>
                </a:solidFill>
                <a:latin typeface="Arial" pitchFamily="34" charset="0"/>
                <a:ea typeface="Arial" pitchFamily="34" charset="-122"/>
                <a:cs typeface="Arial" pitchFamily="34" charset="-120"/>
              </a:rPr>
              <a:t>3,192</a:t>
            </a:r>
            <a:endParaRPr lang="en-US" sz="2400" dirty="0"/>
          </a:p>
        </p:txBody>
      </p:sp>
      <p:sp>
        <p:nvSpPr>
          <p:cNvPr id="11" name="Text 8"/>
          <p:cNvSpPr txBox="1"/>
          <p:nvPr/>
        </p:nvSpPr>
        <p:spPr>
          <a:xfrm>
            <a:off x="8458200" y="3886200"/>
            <a:ext cx="3017520" cy="274320"/>
          </a:xfrm>
          <a:prstGeom prst="rect">
            <a:avLst/>
          </a:prstGeom>
          <a:noFill/>
          <a:ln/>
        </p:spPr>
        <p:txBody>
          <a:bodyPr wrap="square" lIns="0" tIns="0" rIns="0" bIns="0" rtlCol="0" anchor="t"/>
          <a:lstStyle/>
          <a:p>
            <a:pPr indent="0" marL="0">
              <a:buNone/>
            </a:pPr>
            <a:r>
              <a:rPr lang="en-US" sz="1300" b="1" dirty="0">
                <a:solidFill>
                  <a:srgbClr val="0E1726"/>
                </a:solidFill>
                <a:latin typeface="Calibri" pitchFamily="34" charset="0"/>
                <a:ea typeface="Calibri" pitchFamily="34" charset="-122"/>
                <a:cs typeface="Calibri" pitchFamily="34" charset="-120"/>
              </a:rPr>
              <a:t>messages in the final test</a:t>
            </a:r>
            <a:endParaRPr lang="en-US" sz="1300" dirty="0"/>
          </a:p>
        </p:txBody>
      </p:sp>
      <p:sp>
        <p:nvSpPr>
          <p:cNvPr id="12" name="Text 9"/>
          <p:cNvSpPr txBox="1"/>
          <p:nvPr/>
        </p:nvSpPr>
        <p:spPr>
          <a:xfrm>
            <a:off x="8458200" y="4160520"/>
            <a:ext cx="3063240" cy="292608"/>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never seen while learning</a:t>
            </a:r>
            <a:endParaRPr lang="en-US" sz="1100" dirty="0"/>
          </a:p>
        </p:txBody>
      </p:sp>
      <p:sp>
        <p:nvSpPr>
          <p:cNvPr id="13" name="Shape 10"/>
          <p:cNvSpPr/>
          <p:nvPr/>
        </p:nvSpPr>
        <p:spPr>
          <a:xfrm>
            <a:off x="8229600" y="4709160"/>
            <a:ext cx="3410712" cy="1188720"/>
          </a:xfrm>
          <a:prstGeom prst="roundRect">
            <a:avLst>
              <a:gd name="adj" fmla="val 9231"/>
            </a:avLst>
          </a:prstGeom>
          <a:solidFill>
            <a:srgbClr val="F4F6FB"/>
          </a:solidFill>
          <a:ln w="12700">
            <a:solidFill>
              <a:srgbClr val="F4F6FB"/>
            </a:solidFill>
            <a:prstDash val="solid"/>
          </a:ln>
        </p:spPr>
      </p:sp>
      <p:sp>
        <p:nvSpPr>
          <p:cNvPr id="14" name="Text 11"/>
          <p:cNvSpPr txBox="1"/>
          <p:nvPr/>
        </p:nvSpPr>
        <p:spPr>
          <a:xfrm>
            <a:off x="8458200" y="4818888"/>
            <a:ext cx="3017520" cy="457200"/>
          </a:xfrm>
          <a:prstGeom prst="rect">
            <a:avLst/>
          </a:prstGeom>
          <a:noFill/>
          <a:ln/>
        </p:spPr>
        <p:txBody>
          <a:bodyPr wrap="square" lIns="0" tIns="0" rIns="0" bIns="0" rtlCol="0" anchor="t"/>
          <a:lstStyle/>
          <a:p>
            <a:pPr indent="0" marL="0">
              <a:buNone/>
            </a:pPr>
            <a:r>
              <a:rPr lang="en-US" sz="2400" b="1" dirty="0">
                <a:solidFill>
                  <a:srgbClr val="4F46E5"/>
                </a:solidFill>
                <a:latin typeface="Arial" pitchFamily="34" charset="0"/>
                <a:ea typeface="Arial" pitchFamily="34" charset="-122"/>
                <a:cs typeface="Arial" pitchFamily="34" charset="-120"/>
              </a:rPr>
              <a:t>About half</a:t>
            </a:r>
            <a:endParaRPr lang="en-US" sz="2400" dirty="0"/>
          </a:p>
        </p:txBody>
      </p:sp>
      <p:sp>
        <p:nvSpPr>
          <p:cNvPr id="15" name="Text 12"/>
          <p:cNvSpPr txBox="1"/>
          <p:nvPr/>
        </p:nvSpPr>
        <p:spPr>
          <a:xfrm>
            <a:off x="8458200" y="5257800"/>
            <a:ext cx="3017520" cy="274320"/>
          </a:xfrm>
          <a:prstGeom prst="rect">
            <a:avLst/>
          </a:prstGeom>
          <a:noFill/>
          <a:ln/>
        </p:spPr>
        <p:txBody>
          <a:bodyPr wrap="square" lIns="0" tIns="0" rIns="0" bIns="0" rtlCol="0" anchor="t"/>
          <a:lstStyle/>
          <a:p>
            <a:pPr indent="0" marL="0">
              <a:buNone/>
            </a:pPr>
            <a:r>
              <a:rPr lang="en-US" sz="1300" b="1" dirty="0">
                <a:solidFill>
                  <a:srgbClr val="0E1726"/>
                </a:solidFill>
                <a:latin typeface="Calibri" pitchFamily="34" charset="0"/>
                <a:ea typeface="Calibri" pitchFamily="34" charset="-122"/>
                <a:cs typeface="Calibri" pitchFamily="34" charset="-120"/>
              </a:rPr>
              <a:t>of the training data is Payments</a:t>
            </a:r>
            <a:endParaRPr lang="en-US" sz="1300" dirty="0"/>
          </a:p>
        </p:txBody>
      </p:sp>
      <p:sp>
        <p:nvSpPr>
          <p:cNvPr id="16" name="Text 13"/>
          <p:cNvSpPr txBox="1"/>
          <p:nvPr/>
        </p:nvSpPr>
        <p:spPr>
          <a:xfrm>
            <a:off x="8458200" y="5532120"/>
            <a:ext cx="3063240" cy="292608"/>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so small categories are given equal importance</a:t>
            </a:r>
            <a:endParaRPr lang="en-US" sz="11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How the system understands a message</a:t>
            </a:r>
            <a:endParaRPr lang="en-US" sz="3000" dirty="0"/>
          </a:p>
        </p:txBody>
      </p:sp>
      <p:sp>
        <p:nvSpPr>
          <p:cNvPr id="3" name="Shape 1"/>
          <p:cNvSpPr/>
          <p:nvPr/>
        </p:nvSpPr>
        <p:spPr>
          <a:xfrm>
            <a:off x="548640" y="1325880"/>
            <a:ext cx="6400800" cy="914400"/>
          </a:xfrm>
          <a:prstGeom prst="roundRect">
            <a:avLst>
              <a:gd name="adj" fmla="val 12000"/>
            </a:avLst>
          </a:prstGeom>
          <a:solidFill>
            <a:srgbClr val="F4F6FB"/>
          </a:solidFill>
          <a:ln w="12700">
            <a:solidFill>
              <a:srgbClr val="F4F6FB"/>
            </a:solidFill>
            <a:prstDash val="solid"/>
          </a:ln>
        </p:spPr>
      </p:sp>
      <p:sp>
        <p:nvSpPr>
          <p:cNvPr id="4" name="Text 2"/>
          <p:cNvSpPr txBox="1"/>
          <p:nvPr/>
        </p:nvSpPr>
        <p:spPr>
          <a:xfrm>
            <a:off x="777240" y="1435608"/>
            <a:ext cx="6035040" cy="256032"/>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THE CUSTOMER WRITES</a:t>
            </a:r>
            <a:endParaRPr lang="en-US" sz="1100" dirty="0"/>
          </a:p>
        </p:txBody>
      </p:sp>
      <p:sp>
        <p:nvSpPr>
          <p:cNvPr id="5" name="Text 3"/>
          <p:cNvSpPr txBox="1"/>
          <p:nvPr/>
        </p:nvSpPr>
        <p:spPr>
          <a:xfrm>
            <a:off x="777240" y="1737360"/>
            <a:ext cx="6035040" cy="384048"/>
          </a:xfrm>
          <a:prstGeom prst="rect">
            <a:avLst/>
          </a:prstGeom>
          <a:noFill/>
          <a:ln/>
        </p:spPr>
        <p:txBody>
          <a:bodyPr wrap="square" lIns="0" tIns="0" rIns="0" bIns="0" rtlCol="0" anchor="t"/>
          <a:lstStyle/>
          <a:p>
            <a:pPr indent="0" marL="0">
              <a:buNone/>
            </a:pPr>
            <a:r>
              <a:rPr lang="en-US" sz="1500" dirty="0">
                <a:solidFill>
                  <a:srgbClr val="0E1726"/>
                </a:solidFill>
                <a:latin typeface="Calibri" pitchFamily="34" charset="0"/>
                <a:ea typeface="Calibri" pitchFamily="34" charset="-122"/>
                <a:cs typeface="Calibri" pitchFamily="34" charset="-120"/>
              </a:rPr>
              <a:t>“My card 4539 1488 0343 6467 was skimmed at the ATM”</a:t>
            </a:r>
            <a:endParaRPr lang="en-US" sz="1500" dirty="0"/>
          </a:p>
        </p:txBody>
      </p:sp>
      <p:sp>
        <p:nvSpPr>
          <p:cNvPr id="6" name="Shape 4"/>
          <p:cNvSpPr/>
          <p:nvPr/>
        </p:nvSpPr>
        <p:spPr>
          <a:xfrm>
            <a:off x="548640" y="2404872"/>
            <a:ext cx="6400800" cy="914400"/>
          </a:xfrm>
          <a:prstGeom prst="roundRect">
            <a:avLst>
              <a:gd name="adj" fmla="val 12000"/>
            </a:avLst>
          </a:prstGeom>
          <a:solidFill>
            <a:srgbClr val="F4F6FB"/>
          </a:solidFill>
          <a:ln w="12700">
            <a:solidFill>
              <a:srgbClr val="F4F6FB"/>
            </a:solidFill>
            <a:prstDash val="solid"/>
          </a:ln>
        </p:spPr>
      </p:sp>
      <p:sp>
        <p:nvSpPr>
          <p:cNvPr id="7" name="Text 5"/>
          <p:cNvSpPr txBox="1"/>
          <p:nvPr/>
        </p:nvSpPr>
        <p:spPr>
          <a:xfrm>
            <a:off x="777240" y="2514600"/>
            <a:ext cx="6035040" cy="256032"/>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PERSONAL DETAILS HIDDEN, TEXT TIDIED</a:t>
            </a:r>
            <a:endParaRPr lang="en-US" sz="1100" dirty="0"/>
          </a:p>
        </p:txBody>
      </p:sp>
      <p:sp>
        <p:nvSpPr>
          <p:cNvPr id="8" name="Text 6"/>
          <p:cNvSpPr txBox="1"/>
          <p:nvPr/>
        </p:nvSpPr>
        <p:spPr>
          <a:xfrm>
            <a:off x="777240" y="2816352"/>
            <a:ext cx="6035040" cy="384048"/>
          </a:xfrm>
          <a:prstGeom prst="rect">
            <a:avLst/>
          </a:prstGeom>
          <a:noFill/>
          <a:ln/>
        </p:spPr>
        <p:txBody>
          <a:bodyPr wrap="square" lIns="0" tIns="0" rIns="0" bIns="0" rtlCol="0" anchor="t"/>
          <a:lstStyle/>
          <a:p>
            <a:pPr indent="0" marL="0">
              <a:buNone/>
            </a:pPr>
            <a:r>
              <a:rPr lang="en-US" sz="1500" dirty="0">
                <a:solidFill>
                  <a:srgbClr val="0E1726"/>
                </a:solidFill>
                <a:latin typeface="Calibri" pitchFamily="34" charset="0"/>
                <a:ea typeface="Calibri" pitchFamily="34" charset="-122"/>
                <a:cs typeface="Calibri" pitchFamily="34" charset="-120"/>
              </a:rPr>
              <a:t>“my card [CARD] was skimmed at the atm”</a:t>
            </a:r>
            <a:endParaRPr lang="en-US" sz="1500" dirty="0"/>
          </a:p>
        </p:txBody>
      </p:sp>
      <p:sp>
        <p:nvSpPr>
          <p:cNvPr id="9" name="Shape 7"/>
          <p:cNvSpPr/>
          <p:nvPr/>
        </p:nvSpPr>
        <p:spPr>
          <a:xfrm>
            <a:off x="548640" y="3483864"/>
            <a:ext cx="6400800" cy="914400"/>
          </a:xfrm>
          <a:prstGeom prst="roundRect">
            <a:avLst>
              <a:gd name="adj" fmla="val 12000"/>
            </a:avLst>
          </a:prstGeom>
          <a:solidFill>
            <a:srgbClr val="F4F6FB"/>
          </a:solidFill>
          <a:ln w="12700">
            <a:solidFill>
              <a:srgbClr val="F4F6FB"/>
            </a:solidFill>
            <a:prstDash val="solid"/>
          </a:ln>
        </p:spPr>
      </p:sp>
      <p:sp>
        <p:nvSpPr>
          <p:cNvPr id="10" name="Text 8"/>
          <p:cNvSpPr txBox="1"/>
          <p:nvPr/>
        </p:nvSpPr>
        <p:spPr>
          <a:xfrm>
            <a:off x="777240" y="3593592"/>
            <a:ext cx="6035040" cy="256032"/>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IT LOOKS AT WORDS, WORD PAIRS AND SMALL LETTER CHUNKS</a:t>
            </a:r>
            <a:endParaRPr lang="en-US" sz="1100" dirty="0"/>
          </a:p>
        </p:txBody>
      </p:sp>
      <p:sp>
        <p:nvSpPr>
          <p:cNvPr id="11" name="Text 9"/>
          <p:cNvSpPr txBox="1"/>
          <p:nvPr/>
        </p:nvSpPr>
        <p:spPr>
          <a:xfrm>
            <a:off x="777240" y="3895344"/>
            <a:ext cx="6035040" cy="384048"/>
          </a:xfrm>
          <a:prstGeom prst="rect">
            <a:avLst/>
          </a:prstGeom>
          <a:noFill/>
          <a:ln/>
        </p:spPr>
        <p:txBody>
          <a:bodyPr wrap="square" lIns="0" tIns="0" rIns="0" bIns="0" rtlCol="0" anchor="t"/>
          <a:lstStyle/>
          <a:p>
            <a:pPr indent="0" marL="0">
              <a:buNone/>
            </a:pPr>
            <a:r>
              <a:rPr lang="en-US" sz="1500" dirty="0">
                <a:solidFill>
                  <a:srgbClr val="0E1726"/>
                </a:solidFill>
                <a:latin typeface="Calibri" pitchFamily="34" charset="0"/>
                <a:ea typeface="Calibri" pitchFamily="34" charset="-122"/>
                <a:cs typeface="Calibri" pitchFamily="34" charset="-120"/>
              </a:rPr>
              <a:t>“card”, “skimmed”, “at the atm”, “skim”… (letter chunks help with typos)</a:t>
            </a:r>
            <a:endParaRPr lang="en-US" sz="1500" dirty="0"/>
          </a:p>
        </p:txBody>
      </p:sp>
      <p:sp>
        <p:nvSpPr>
          <p:cNvPr id="12" name="Text 10"/>
          <p:cNvSpPr txBox="1"/>
          <p:nvPr/>
        </p:nvSpPr>
        <p:spPr>
          <a:xfrm>
            <a:off x="548640" y="4709160"/>
            <a:ext cx="6400800" cy="36576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Two models then make predictions</a:t>
            </a:r>
            <a:endParaRPr lang="en-US" sz="1600" dirty="0"/>
          </a:p>
        </p:txBody>
      </p:sp>
      <p:sp>
        <p:nvSpPr>
          <p:cNvPr id="13" name="Text 11"/>
          <p:cNvSpPr txBox="1"/>
          <p:nvPr/>
        </p:nvSpPr>
        <p:spPr>
          <a:xfrm>
            <a:off x="548640" y="5074920"/>
            <a:ext cx="6400800" cy="8229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 category model picks 1 of 5 categories (this decides the team). A topic model picks 1 of 83 topics (this tells the agent the exact issue).</a:t>
            </a:r>
            <a:endParaRPr lang="en-US" sz="1400" dirty="0"/>
          </a:p>
        </p:txBody>
      </p:sp>
      <p:sp>
        <p:nvSpPr>
          <p:cNvPr id="14" name="Shape 12"/>
          <p:cNvSpPr/>
          <p:nvPr/>
        </p:nvSpPr>
        <p:spPr>
          <a:xfrm>
            <a:off x="7315200" y="1325880"/>
            <a:ext cx="4325112" cy="4572000"/>
          </a:xfrm>
          <a:prstGeom prst="roundRect">
            <a:avLst>
              <a:gd name="adj" fmla="val 2537"/>
            </a:avLst>
          </a:prstGeom>
          <a:solidFill>
            <a:srgbClr val="EEF0FF"/>
          </a:solidFill>
          <a:ln w="12700">
            <a:solidFill>
              <a:srgbClr val="EEF0FF"/>
            </a:solidFill>
            <a:prstDash val="solid"/>
          </a:ln>
        </p:spPr>
      </p:sp>
      <p:sp>
        <p:nvSpPr>
          <p:cNvPr id="15" name="Text 13"/>
          <p:cNvSpPr txBox="1"/>
          <p:nvPr/>
        </p:nvSpPr>
        <p:spPr>
          <a:xfrm>
            <a:off x="7589520" y="1554480"/>
            <a:ext cx="3840480" cy="274320"/>
          </a:xfrm>
          <a:prstGeom prst="rect">
            <a:avLst/>
          </a:prstGeom>
          <a:noFill/>
          <a:ln/>
        </p:spPr>
        <p:txBody>
          <a:bodyPr wrap="square" lIns="0" tIns="0" rIns="0" bIns="0" rtlCol="0" anchor="t"/>
          <a:lstStyle/>
          <a:p>
            <a:pPr indent="0" marL="0">
              <a:buNone/>
            </a:pPr>
            <a:r>
              <a:rPr lang="en-US" sz="1100" b="1" spc="200" kern="0" dirty="0">
                <a:solidFill>
                  <a:srgbClr val="4F46E5"/>
                </a:solidFill>
                <a:latin typeface="Calibri" pitchFamily="34" charset="0"/>
                <a:ea typeface="Calibri" pitchFamily="34" charset="-122"/>
                <a:cs typeface="Calibri" pitchFamily="34" charset="-120"/>
              </a:rPr>
              <a:t>HOW IT LEARNED</a:t>
            </a:r>
            <a:endParaRPr lang="en-US" sz="1100" dirty="0"/>
          </a:p>
        </p:txBody>
      </p:sp>
      <p:sp>
        <p:nvSpPr>
          <p:cNvPr id="16" name="Text 14"/>
          <p:cNvSpPr txBox="1"/>
          <p:nvPr/>
        </p:nvSpPr>
        <p:spPr>
          <a:xfrm>
            <a:off x="7589520" y="1920240"/>
            <a:ext cx="3840480" cy="1005840"/>
          </a:xfrm>
          <a:prstGeom prst="rect">
            <a:avLst/>
          </a:prstGeom>
          <a:noFill/>
          <a:ln/>
        </p:spPr>
        <p:txBody>
          <a:bodyPr wrap="square" lIns="0" tIns="0" rIns="0" bIns="0" rtlCol="0" anchor="t"/>
          <a:lstStyle/>
          <a:p>
            <a:pPr indent="0" marL="0">
              <a:buNone/>
            </a:pPr>
            <a:r>
              <a:rPr lang="en-US" sz="1500" dirty="0">
                <a:solidFill>
                  <a:srgbClr val="0E1726"/>
                </a:solidFill>
                <a:latin typeface="Calibri" pitchFamily="34" charset="0"/>
                <a:ea typeface="Calibri" pitchFamily="34" charset="-122"/>
                <a:cs typeface="Calibri" pitchFamily="34" charset="-120"/>
              </a:rPr>
              <a:t>It studied 10,519 labelled examples and learned which words and phrases point to which category.</a:t>
            </a:r>
            <a:endParaRPr lang="en-US" sz="1500" dirty="0"/>
          </a:p>
        </p:txBody>
      </p:sp>
      <p:sp>
        <p:nvSpPr>
          <p:cNvPr id="17" name="Text 15"/>
          <p:cNvSpPr txBox="1"/>
          <p:nvPr/>
        </p:nvSpPr>
        <p:spPr>
          <a:xfrm>
            <a:off x="7589520" y="3017520"/>
            <a:ext cx="3840480" cy="10972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Example: words like “stolen”, “lost”, “this charge” lean towards Fraud; “pin”, “atm” and “card” lean towards Cards.</a:t>
            </a:r>
            <a:endParaRPr lang="en-US" sz="1400" dirty="0"/>
          </a:p>
        </p:txBody>
      </p:sp>
      <p:sp>
        <p:nvSpPr>
          <p:cNvPr id="18" name="Text 16"/>
          <p:cNvSpPr txBox="1"/>
          <p:nvPr/>
        </p:nvSpPr>
        <p:spPr>
          <a:xfrm>
            <a:off x="7589520" y="4343400"/>
            <a:ext cx="3840480" cy="731520"/>
          </a:xfrm>
          <a:prstGeom prst="rect">
            <a:avLst/>
          </a:prstGeom>
          <a:noFill/>
          <a:ln/>
        </p:spPr>
        <p:txBody>
          <a:bodyPr wrap="square" lIns="0" tIns="0" rIns="0" bIns="0" rtlCol="0" anchor="t"/>
          <a:lstStyle/>
          <a:p>
            <a:pPr indent="0" marL="0">
              <a:buNone/>
            </a:pPr>
            <a:r>
              <a:rPr lang="en-US" sz="1400" b="1" dirty="0">
                <a:solidFill>
                  <a:srgbClr val="4F46E5"/>
                </a:solidFill>
                <a:latin typeface="Calibri" pitchFamily="34" charset="0"/>
                <a:ea typeface="Calibri" pitchFamily="34" charset="-122"/>
                <a:cs typeface="Calibri" pitchFamily="34" charset="-120"/>
              </a:rPr>
              <a:t>Training the whole system takes about one minute on a laptop.</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We tested four approaches and kept the best</a:t>
            </a:r>
            <a:endParaRPr lang="en-US" sz="3000" dirty="0"/>
          </a:p>
        </p:txBody>
      </p:sp>
      <p:graphicFrame>
        <p:nvGraphicFramePr>
          <p:cNvPr id="3" name="Chart 0" descr=""/>
          <p:cNvGraphicFramePr/>
          <p:nvPr/>
        </p:nvGraphicFramePr>
        <p:xfrm>
          <a:off x="548640" y="132588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325880"/>
            <a:ext cx="3776472" cy="4297680"/>
          </a:xfrm>
          <a:prstGeom prst="roundRect">
            <a:avLst>
              <a:gd name="adj" fmla="val 2906"/>
            </a:avLst>
          </a:prstGeom>
          <a:solidFill>
            <a:srgbClr val="F4F6FB"/>
          </a:solidFill>
          <a:ln w="12700">
            <a:solidFill>
              <a:srgbClr val="F4F6FB"/>
            </a:solidFill>
            <a:prstDash val="solid"/>
          </a:ln>
        </p:spPr>
      </p:sp>
      <p:sp>
        <p:nvSpPr>
          <p:cNvPr id="5" name="Text 2"/>
          <p:cNvSpPr txBox="1"/>
          <p:nvPr/>
        </p:nvSpPr>
        <p:spPr>
          <a:xfrm>
            <a:off x="8138160" y="1554480"/>
            <a:ext cx="3291840" cy="365760"/>
          </a:xfrm>
          <a:prstGeom prst="rect">
            <a:avLst/>
          </a:prstGeom>
          <a:noFill/>
          <a:ln/>
        </p:spPr>
        <p:txBody>
          <a:bodyPr wrap="square" lIns="0" tIns="0" rIns="0" bIns="0" rtlCol="0" anchor="t"/>
          <a:lstStyle/>
          <a:p>
            <a:pPr indent="0" marL="0">
              <a:buNone/>
            </a:pPr>
            <a:r>
              <a:rPr lang="en-US" sz="1700" b="1" dirty="0">
                <a:solidFill>
                  <a:srgbClr val="0E1726"/>
                </a:solidFill>
                <a:latin typeface="Calibri" pitchFamily="34" charset="0"/>
                <a:ea typeface="Calibri" pitchFamily="34" charset="-122"/>
                <a:cs typeface="Calibri" pitchFamily="34" charset="-120"/>
              </a:rPr>
              <a:t>How we chose fairly</a:t>
            </a:r>
            <a:endParaRPr lang="en-US" sz="1700" dirty="0"/>
          </a:p>
        </p:txBody>
      </p:sp>
      <p:sp>
        <p:nvSpPr>
          <p:cNvPr id="6" name="Text 3"/>
          <p:cNvSpPr txBox="1"/>
          <p:nvPr/>
        </p:nvSpPr>
        <p:spPr>
          <a:xfrm>
            <a:off x="8138160" y="2011680"/>
            <a:ext cx="32918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Each approach practised on the training data in 5 rounds, each time hiding a different fifth of it as a quiz.</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We picked the winner on those practice scores, never on the final test.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Only then did we check it once on the final test.</a:t>
            </a:r>
            <a:endParaRPr lang="en-US" sz="1400" dirty="0"/>
          </a:p>
        </p:txBody>
      </p:sp>
      <p:sp>
        <p:nvSpPr>
          <p:cNvPr id="7" name="Text 4"/>
          <p:cNvSpPr txBox="1"/>
          <p:nvPr/>
        </p:nvSpPr>
        <p:spPr>
          <a:xfrm>
            <a:off x="8138160" y="4526280"/>
            <a:ext cx="3291840" cy="822960"/>
          </a:xfrm>
          <a:prstGeom prst="rect">
            <a:avLst/>
          </a:prstGeom>
          <a:noFill/>
          <a:ln/>
        </p:spPr>
        <p:txBody>
          <a:bodyPr wrap="square" lIns="0" tIns="0" rIns="0" bIns="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Guessing alone gets 46.4%. Our model gets 97.3%.</a:t>
            </a:r>
            <a:endParaRPr lang="en-US" sz="15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Results on 3,192 messages it had never seen</a:t>
            </a:r>
            <a:endParaRPr lang="en-US" sz="3000" dirty="0"/>
          </a:p>
        </p:txBody>
      </p:sp>
      <p:sp>
        <p:nvSpPr>
          <p:cNvPr id="3" name="Shape 1"/>
          <p:cNvSpPr/>
          <p:nvPr/>
        </p:nvSpPr>
        <p:spPr>
          <a:xfrm>
            <a:off x="548640" y="1325880"/>
            <a:ext cx="4206240" cy="1389888"/>
          </a:xfrm>
          <a:prstGeom prst="roundRect">
            <a:avLst>
              <a:gd name="adj" fmla="val 7895"/>
            </a:avLst>
          </a:prstGeom>
          <a:solidFill>
            <a:srgbClr val="F4F6FB"/>
          </a:solidFill>
          <a:ln w="12700">
            <a:solidFill>
              <a:srgbClr val="F4F6FB"/>
            </a:solidFill>
            <a:prstDash val="solid"/>
          </a:ln>
        </p:spPr>
      </p:sp>
      <p:sp>
        <p:nvSpPr>
          <p:cNvPr id="4" name="Text 2"/>
          <p:cNvSpPr txBox="1"/>
          <p:nvPr/>
        </p:nvSpPr>
        <p:spPr>
          <a:xfrm>
            <a:off x="822960" y="1463040"/>
            <a:ext cx="3749040" cy="594360"/>
          </a:xfrm>
          <a:prstGeom prst="rect">
            <a:avLst/>
          </a:prstGeom>
          <a:noFill/>
          <a:ln/>
        </p:spPr>
        <p:txBody>
          <a:bodyPr wrap="square" lIns="0" tIns="0" rIns="0" bIns="0" rtlCol="0" anchor="t"/>
          <a:lstStyle/>
          <a:p>
            <a:pPr indent="0" marL="0">
              <a:buNone/>
            </a:pPr>
            <a:r>
              <a:rPr lang="en-US" sz="3200" b="1" dirty="0">
                <a:solidFill>
                  <a:srgbClr val="4F46E5"/>
                </a:solidFill>
                <a:latin typeface="Arial" pitchFamily="34" charset="0"/>
                <a:ea typeface="Arial" pitchFamily="34" charset="-122"/>
                <a:cs typeface="Arial" pitchFamily="34" charset="-120"/>
              </a:rPr>
              <a:t>97.3%</a:t>
            </a:r>
            <a:endParaRPr lang="en-US" sz="3200" dirty="0"/>
          </a:p>
        </p:txBody>
      </p:sp>
      <p:sp>
        <p:nvSpPr>
          <p:cNvPr id="5" name="Text 3"/>
          <p:cNvSpPr txBox="1"/>
          <p:nvPr/>
        </p:nvSpPr>
        <p:spPr>
          <a:xfrm>
            <a:off x="822960" y="2057400"/>
            <a:ext cx="3749040" cy="292608"/>
          </a:xfrm>
          <a:prstGeom prst="rect">
            <a:avLst/>
          </a:prstGeom>
          <a:noFill/>
          <a:ln/>
        </p:spPr>
        <p:txBody>
          <a:bodyPr wrap="square" lIns="0" tIns="0" rIns="0" bIns="0" rtlCol="0" anchor="t"/>
          <a:lstStyle/>
          <a:p>
            <a:pPr indent="0" marL="0">
              <a:buNone/>
            </a:pPr>
            <a:r>
              <a:rPr lang="en-US" sz="1400" b="1" dirty="0">
                <a:solidFill>
                  <a:srgbClr val="0E1726"/>
                </a:solidFill>
                <a:latin typeface="Calibri" pitchFamily="34" charset="0"/>
                <a:ea typeface="Calibri" pitchFamily="34" charset="-122"/>
                <a:cs typeface="Calibri" pitchFamily="34" charset="-120"/>
              </a:rPr>
              <a:t>of messages put in the right category</a:t>
            </a:r>
            <a:endParaRPr lang="en-US" sz="1400" dirty="0"/>
          </a:p>
        </p:txBody>
      </p:sp>
      <p:sp>
        <p:nvSpPr>
          <p:cNvPr id="6" name="Text 4"/>
          <p:cNvSpPr txBox="1"/>
          <p:nvPr/>
        </p:nvSpPr>
        <p:spPr>
          <a:xfrm>
            <a:off x="822960" y="2331720"/>
            <a:ext cx="374904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3,107 right, 85 wrong</a:t>
            </a:r>
            <a:endParaRPr lang="en-US" sz="1200" dirty="0"/>
          </a:p>
        </p:txBody>
      </p:sp>
      <p:sp>
        <p:nvSpPr>
          <p:cNvPr id="7" name="Shape 5"/>
          <p:cNvSpPr/>
          <p:nvPr/>
        </p:nvSpPr>
        <p:spPr>
          <a:xfrm>
            <a:off x="548640" y="2898648"/>
            <a:ext cx="4206240" cy="1389888"/>
          </a:xfrm>
          <a:prstGeom prst="roundRect">
            <a:avLst>
              <a:gd name="adj" fmla="val 7895"/>
            </a:avLst>
          </a:prstGeom>
          <a:solidFill>
            <a:srgbClr val="F4F6FB"/>
          </a:solidFill>
          <a:ln w="12700">
            <a:solidFill>
              <a:srgbClr val="F4F6FB"/>
            </a:solidFill>
            <a:prstDash val="solid"/>
          </a:ln>
        </p:spPr>
      </p:sp>
      <p:sp>
        <p:nvSpPr>
          <p:cNvPr id="8" name="Text 6"/>
          <p:cNvSpPr txBox="1"/>
          <p:nvPr/>
        </p:nvSpPr>
        <p:spPr>
          <a:xfrm>
            <a:off x="822960" y="3035808"/>
            <a:ext cx="3749040" cy="594360"/>
          </a:xfrm>
          <a:prstGeom prst="rect">
            <a:avLst/>
          </a:prstGeom>
          <a:noFill/>
          <a:ln/>
        </p:spPr>
        <p:txBody>
          <a:bodyPr wrap="square" lIns="0" tIns="0" rIns="0" bIns="0" rtlCol="0" anchor="t"/>
          <a:lstStyle/>
          <a:p>
            <a:pPr indent="0" marL="0">
              <a:buNone/>
            </a:pPr>
            <a:r>
              <a:rPr lang="en-US" sz="3200" b="1" dirty="0">
                <a:solidFill>
                  <a:srgbClr val="C81E33"/>
                </a:solidFill>
                <a:latin typeface="Arial" pitchFamily="34" charset="0"/>
                <a:ea typeface="Arial" pitchFamily="34" charset="-122"/>
                <a:cs typeface="Arial" pitchFamily="34" charset="-120"/>
              </a:rPr>
              <a:t>230 of 240</a:t>
            </a:r>
            <a:endParaRPr lang="en-US" sz="3200" dirty="0"/>
          </a:p>
        </p:txBody>
      </p:sp>
      <p:sp>
        <p:nvSpPr>
          <p:cNvPr id="9" name="Text 7"/>
          <p:cNvSpPr txBox="1"/>
          <p:nvPr/>
        </p:nvSpPr>
        <p:spPr>
          <a:xfrm>
            <a:off x="822960" y="3630168"/>
            <a:ext cx="3749040" cy="292608"/>
          </a:xfrm>
          <a:prstGeom prst="rect">
            <a:avLst/>
          </a:prstGeom>
          <a:noFill/>
          <a:ln/>
        </p:spPr>
        <p:txBody>
          <a:bodyPr wrap="square" lIns="0" tIns="0" rIns="0" bIns="0" rtlCol="0" anchor="t"/>
          <a:lstStyle/>
          <a:p>
            <a:pPr indent="0" marL="0">
              <a:buNone/>
            </a:pPr>
            <a:r>
              <a:rPr lang="en-US" sz="1400" b="1" dirty="0">
                <a:solidFill>
                  <a:srgbClr val="0E1726"/>
                </a:solidFill>
                <a:latin typeface="Calibri" pitchFamily="34" charset="0"/>
                <a:ea typeface="Calibri" pitchFamily="34" charset="-122"/>
                <a:cs typeface="Calibri" pitchFamily="34" charset="-120"/>
              </a:rPr>
              <a:t>fraud messages caught (95.8%)</a:t>
            </a:r>
            <a:endParaRPr lang="en-US" sz="1400" dirty="0"/>
          </a:p>
        </p:txBody>
      </p:sp>
      <p:sp>
        <p:nvSpPr>
          <p:cNvPr id="10" name="Text 8"/>
          <p:cNvSpPr txBox="1"/>
          <p:nvPr/>
        </p:nvSpPr>
        <p:spPr>
          <a:xfrm>
            <a:off x="822960" y="3904488"/>
            <a:ext cx="374904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the most important category</a:t>
            </a:r>
            <a:endParaRPr lang="en-US" sz="1200" dirty="0"/>
          </a:p>
        </p:txBody>
      </p:sp>
      <p:sp>
        <p:nvSpPr>
          <p:cNvPr id="11" name="Shape 9"/>
          <p:cNvSpPr/>
          <p:nvPr/>
        </p:nvSpPr>
        <p:spPr>
          <a:xfrm>
            <a:off x="548640" y="4471416"/>
            <a:ext cx="4206240" cy="1389888"/>
          </a:xfrm>
          <a:prstGeom prst="roundRect">
            <a:avLst>
              <a:gd name="adj" fmla="val 7895"/>
            </a:avLst>
          </a:prstGeom>
          <a:solidFill>
            <a:srgbClr val="F4F6FB"/>
          </a:solidFill>
          <a:ln w="12700">
            <a:solidFill>
              <a:srgbClr val="F4F6FB"/>
            </a:solidFill>
            <a:prstDash val="solid"/>
          </a:ln>
        </p:spPr>
      </p:sp>
      <p:sp>
        <p:nvSpPr>
          <p:cNvPr id="12" name="Text 10"/>
          <p:cNvSpPr txBox="1"/>
          <p:nvPr/>
        </p:nvSpPr>
        <p:spPr>
          <a:xfrm>
            <a:off x="822960" y="4608576"/>
            <a:ext cx="3749040" cy="594360"/>
          </a:xfrm>
          <a:prstGeom prst="rect">
            <a:avLst/>
          </a:prstGeom>
          <a:noFill/>
          <a:ln/>
        </p:spPr>
        <p:txBody>
          <a:bodyPr wrap="square" lIns="0" tIns="0" rIns="0" bIns="0" rtlCol="0" anchor="t"/>
          <a:lstStyle/>
          <a:p>
            <a:pPr indent="0" marL="0">
              <a:buNone/>
            </a:pPr>
            <a:r>
              <a:rPr lang="en-US" sz="3200" b="1" dirty="0">
                <a:solidFill>
                  <a:srgbClr val="00806A"/>
                </a:solidFill>
                <a:latin typeface="Arial" pitchFamily="34" charset="0"/>
                <a:ea typeface="Arial" pitchFamily="34" charset="-122"/>
                <a:cs typeface="Arial" pitchFamily="34" charset="-120"/>
              </a:rPr>
              <a:t>90.0%</a:t>
            </a:r>
            <a:endParaRPr lang="en-US" sz="3200" dirty="0"/>
          </a:p>
        </p:txBody>
      </p:sp>
      <p:sp>
        <p:nvSpPr>
          <p:cNvPr id="13" name="Text 11"/>
          <p:cNvSpPr txBox="1"/>
          <p:nvPr/>
        </p:nvSpPr>
        <p:spPr>
          <a:xfrm>
            <a:off x="822960" y="5202936"/>
            <a:ext cx="3749040" cy="292608"/>
          </a:xfrm>
          <a:prstGeom prst="rect">
            <a:avLst/>
          </a:prstGeom>
          <a:noFill/>
          <a:ln/>
        </p:spPr>
        <p:txBody>
          <a:bodyPr wrap="square" lIns="0" tIns="0" rIns="0" bIns="0" rtlCol="0" anchor="t"/>
          <a:lstStyle/>
          <a:p>
            <a:pPr indent="0" marL="0">
              <a:buNone/>
            </a:pPr>
            <a:r>
              <a:rPr lang="en-US" sz="1400" b="1" dirty="0">
                <a:solidFill>
                  <a:srgbClr val="0E1726"/>
                </a:solidFill>
                <a:latin typeface="Calibri" pitchFamily="34" charset="0"/>
                <a:ea typeface="Calibri" pitchFamily="34" charset="-122"/>
                <a:cs typeface="Calibri" pitchFamily="34" charset="-120"/>
              </a:rPr>
              <a:t>exact topic out of 83</a:t>
            </a:r>
            <a:endParaRPr lang="en-US" sz="1400" dirty="0"/>
          </a:p>
        </p:txBody>
      </p:sp>
      <p:sp>
        <p:nvSpPr>
          <p:cNvPr id="14" name="Text 12"/>
          <p:cNvSpPr txBox="1"/>
          <p:nvPr/>
        </p:nvSpPr>
        <p:spPr>
          <a:xfrm>
            <a:off x="822960" y="5477256"/>
            <a:ext cx="3749040" cy="2743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right topic in its top 3 guesses: 96.7%</a:t>
            </a:r>
            <a:endParaRPr lang="en-US" sz="1200" dirty="0"/>
          </a:p>
        </p:txBody>
      </p:sp>
      <p:graphicFrame>
        <p:nvGraphicFramePr>
          <p:cNvPr id="15" name="Chart 0" descr=""/>
          <p:cNvGraphicFramePr/>
          <p:nvPr/>
        </p:nvGraphicFramePr>
        <p:xfrm>
          <a:off x="5120640" y="1691640"/>
          <a:ext cx="6519672" cy="41605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120640" y="1325880"/>
            <a:ext cx="6519672" cy="320040"/>
          </a:xfrm>
          <a:prstGeom prst="rect">
            <a:avLst/>
          </a:prstGeom>
          <a:noFill/>
          <a:ln/>
        </p:spPr>
        <p:txBody>
          <a:bodyPr wrap="square" lIns="0" tIns="0" rIns="0" bIns="0" rtlCol="0" anchor="t"/>
          <a:lstStyle/>
          <a:p>
            <a:pPr indent="0" marL="0">
              <a:buNone/>
            </a:pPr>
            <a:r>
              <a:rPr lang="en-US" sz="1400" b="1" dirty="0">
                <a:solidFill>
                  <a:srgbClr val="0E1726"/>
                </a:solidFill>
                <a:latin typeface="Calibri" pitchFamily="34" charset="0"/>
                <a:ea typeface="Calibri" pitchFamily="34" charset="-122"/>
                <a:cs typeface="Calibri" pitchFamily="34" charset="-120"/>
              </a:rPr>
              <a:t>Out of each category's real messages, how many it got right</a:t>
            </a:r>
            <a:endParaRPr lang="en-US" sz="1400" dirty="0"/>
          </a:p>
        </p:txBody>
      </p:sp>
      <p:sp>
        <p:nvSpPr>
          <p:cNvPr id="17" name="Text 14"/>
          <p:cNvSpPr txBox="1"/>
          <p:nvPr/>
        </p:nvSpPr>
        <p:spPr>
          <a:xfrm>
            <a:off x="5120640" y="5897880"/>
            <a:ext cx="6519672" cy="3200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Loans scores 100%, but its test messages come from our templates, so treat that as optimistic.</a:t>
            </a:r>
            <a:endParaRPr lang="en-US" sz="12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Where it gets confused</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691640"/>
                <a:gridCol w="1051560"/>
                <a:gridCol w="1051560"/>
                <a:gridCol w="1051560"/>
                <a:gridCol w="1051560"/>
                <a:gridCol w="1051560"/>
              </a:tblGrid>
              <a:tr h="566928">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Real ↓ / Predicted →</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Payments</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Cards</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Loans</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Account issues</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64748B"/>
                          </a:solidFill>
                          <a:latin typeface="Calibri" pitchFamily="34" charset="0"/>
                          <a:ea typeface="Calibri" pitchFamily="34" charset="-122"/>
                          <a:cs typeface="Calibri" pitchFamily="34" charset="-120"/>
                        </a:rPr>
                        <a:t>Fraud</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algn="r" indent="0" marL="0">
                        <a:buNone/>
                      </a:pPr>
                      <a:r>
                        <a:rPr lang="en-US" sz="1300" b="1" dirty="0">
                          <a:solidFill>
                            <a:srgbClr val="0E1726"/>
                          </a:solidFill>
                          <a:latin typeface="Calibri" pitchFamily="34" charset="0"/>
                          <a:ea typeface="Calibri" pitchFamily="34" charset="-122"/>
                          <a:cs typeface="Calibri" pitchFamily="34" charset="-120"/>
                        </a:rPr>
                        <a:t>Payments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1430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806A"/>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27</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r>
              <a:tr h="566928">
                <a:tc>
                  <a:txBody>
                    <a:bodyPr/>
                    <a:lstStyle/>
                    <a:p>
                      <a:pPr algn="r" indent="0" marL="0">
                        <a:buNone/>
                      </a:pPr>
                      <a:r>
                        <a:rPr lang="en-US" sz="1300" b="1" dirty="0">
                          <a:solidFill>
                            <a:srgbClr val="0E1726"/>
                          </a:solidFill>
                          <a:latin typeface="Calibri" pitchFamily="34" charset="0"/>
                          <a:ea typeface="Calibri" pitchFamily="34" charset="-122"/>
                          <a:cs typeface="Calibri" pitchFamily="34" charset="-120"/>
                        </a:rPr>
                        <a:t>Cards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939</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4FD8"/>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r>
              <a:tr h="566928">
                <a:tc>
                  <a:txBody>
                    <a:bodyPr/>
                    <a:lstStyle/>
                    <a:p>
                      <a:pPr algn="r" indent="0" marL="0">
                        <a:buNone/>
                      </a:pPr>
                      <a:r>
                        <a:rPr lang="en-US" sz="1300" b="1" dirty="0">
                          <a:solidFill>
                            <a:srgbClr val="0E1726"/>
                          </a:solidFill>
                          <a:latin typeface="Calibri" pitchFamily="34" charset="0"/>
                          <a:ea typeface="Calibri" pitchFamily="34" charset="-122"/>
                          <a:cs typeface="Calibri" pitchFamily="34" charset="-120"/>
                        </a:rPr>
                        <a:t>Loans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113</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A86B12"/>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r>
              <a:tr h="566928">
                <a:tc>
                  <a:txBody>
                    <a:bodyPr/>
                    <a:lstStyle/>
                    <a:p>
                      <a:pPr algn="r" indent="0" marL="0">
                        <a:buNone/>
                      </a:pPr>
                      <a:r>
                        <a:rPr lang="en-US" sz="1300" b="1" dirty="0">
                          <a:solidFill>
                            <a:srgbClr val="0E1726"/>
                          </a:solidFill>
                          <a:latin typeface="Calibri" pitchFamily="34" charset="0"/>
                          <a:ea typeface="Calibri" pitchFamily="34" charset="-122"/>
                          <a:cs typeface="Calibri" pitchFamily="34" charset="-120"/>
                        </a:rPr>
                        <a:t>Account issues</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395</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A3E9D"/>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r>
              <a:tr h="566928">
                <a:tc>
                  <a:txBody>
                    <a:bodyPr/>
                    <a:lstStyle/>
                    <a:p>
                      <a:pPr algn="r" indent="0" marL="0">
                        <a:buNone/>
                      </a:pPr>
                      <a:r>
                        <a:rPr lang="en-US" sz="1300" b="1" dirty="0">
                          <a:solidFill>
                            <a:srgbClr val="0E1726"/>
                          </a:solidFill>
                          <a:latin typeface="Calibri" pitchFamily="34" charset="0"/>
                          <a:ea typeface="Calibri" pitchFamily="34" charset="-122"/>
                          <a:cs typeface="Calibri" pitchFamily="34" charset="-120"/>
                        </a:rPr>
                        <a:t>Fraud</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B"/>
                    </a:solidFill>
                  </a:tcPr>
                </a:tc>
                <a:tc>
                  <a:txBody>
                    <a:bodyPr/>
                    <a:lstStyle/>
                    <a:p>
                      <a:pPr algn="ctr" indent="0" marL="0">
                        <a:buNone/>
                      </a:pPr>
                      <a:r>
                        <a:rPr lang="en-US" sz="1500" dirty="0">
                          <a:solidFill>
                            <a:srgbClr val="C81E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CEE"/>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230</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81E33"/>
                    </a:solidFill>
                  </a:tcPr>
                </a:tc>
              </a:tr>
            </a:tbl>
          </a:graphicData>
        </a:graphic>
      </p:graphicFrame>
      <p:sp>
        <p:nvSpPr>
          <p:cNvPr id="4" name="Shape 1"/>
          <p:cNvSpPr/>
          <p:nvPr/>
        </p:nvSpPr>
        <p:spPr>
          <a:xfrm>
            <a:off x="7863840" y="1371600"/>
            <a:ext cx="3776472" cy="4480560"/>
          </a:xfrm>
          <a:prstGeom prst="roundRect">
            <a:avLst>
              <a:gd name="adj" fmla="val 2906"/>
            </a:avLst>
          </a:prstGeom>
          <a:solidFill>
            <a:srgbClr val="F4F6FB"/>
          </a:solidFill>
          <a:ln w="12700">
            <a:solidFill>
              <a:srgbClr val="F4F6FB"/>
            </a:solidFill>
            <a:prstDash val="solid"/>
          </a:ln>
        </p:spPr>
      </p:sp>
      <p:sp>
        <p:nvSpPr>
          <p:cNvPr id="5" name="Text 2"/>
          <p:cNvSpPr txBox="1"/>
          <p:nvPr/>
        </p:nvSpPr>
        <p:spPr>
          <a:xfrm>
            <a:off x="8138160" y="1600200"/>
            <a:ext cx="3291840" cy="365760"/>
          </a:xfrm>
          <a:prstGeom prst="rect">
            <a:avLst/>
          </a:prstGeom>
          <a:noFill/>
          <a:ln/>
        </p:spPr>
        <p:txBody>
          <a:bodyPr wrap="square" lIns="0" tIns="0" rIns="0" bIns="0" rtlCol="0" anchor="t"/>
          <a:lstStyle/>
          <a:p>
            <a:pPr indent="0" marL="0">
              <a:buNone/>
            </a:pPr>
            <a:r>
              <a:rPr lang="en-US" sz="1700" b="1" dirty="0">
                <a:solidFill>
                  <a:srgbClr val="0E1726"/>
                </a:solidFill>
                <a:latin typeface="Calibri" pitchFamily="34" charset="0"/>
                <a:ea typeface="Calibri" pitchFamily="34" charset="-122"/>
                <a:cs typeface="Calibri" pitchFamily="34" charset="-120"/>
              </a:rPr>
              <a:t>How to read it</a:t>
            </a:r>
            <a:endParaRPr lang="en-US" sz="1700" dirty="0"/>
          </a:p>
        </p:txBody>
      </p:sp>
      <p:sp>
        <p:nvSpPr>
          <p:cNvPr id="6" name="Text 3"/>
          <p:cNvSpPr txBox="1"/>
          <p:nvPr/>
        </p:nvSpPr>
        <p:spPr>
          <a:xfrm>
            <a:off x="8138160" y="2011680"/>
            <a:ext cx="3291840" cy="11887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Coloured squares are correct answers. Pink squares are mistakes: the row is what the message really was, the column is what the system said.</a:t>
            </a:r>
            <a:endParaRPr lang="en-US" sz="1300" dirty="0"/>
          </a:p>
        </p:txBody>
      </p:sp>
      <p:sp>
        <p:nvSpPr>
          <p:cNvPr id="7" name="Text 4"/>
          <p:cNvSpPr txBox="1"/>
          <p:nvPr/>
        </p:nvSpPr>
        <p:spPr>
          <a:xfrm>
            <a:off x="8138160" y="3246120"/>
            <a:ext cx="329184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726"/>
                </a:solidFill>
                <a:latin typeface="Calibri" pitchFamily="34" charset="0"/>
                <a:ea typeface="Calibri" pitchFamily="34" charset="-122"/>
                <a:cs typeface="Calibri" pitchFamily="34" charset="-120"/>
              </a:rPr>
              <a:t>Biggest mix-up: 27 payment messages read as card messages.</a:t>
            </a:r>
            <a:endParaRPr lang="en-US" sz="1300" dirty="0"/>
          </a:p>
          <a:p>
            <a:pPr marL="342900" indent="-342900">
              <a:spcAft>
                <a:spcPts val="600"/>
              </a:spcAft>
              <a:buSzPct val="100000"/>
              <a:buChar char="•"/>
            </a:pPr>
            <a:r>
              <a:rPr lang="en-US" sz="1300" dirty="0">
                <a:solidFill>
                  <a:srgbClr val="0E1726"/>
                </a:solidFill>
                <a:latin typeface="Calibri" pitchFamily="34" charset="0"/>
                <a:ea typeface="Calibri" pitchFamily="34" charset="-122"/>
                <a:cs typeface="Calibri" pitchFamily="34" charset="-120"/>
              </a:rPr>
              <a:t>12 payment messages were sent to Fraud: a cautious mistake.</a:t>
            </a:r>
            <a:endParaRPr lang="en-US" sz="1300" dirty="0"/>
          </a:p>
          <a:p>
            <a:pPr marL="342900" indent="-342900">
              <a:spcAft>
                <a:spcPts val="600"/>
              </a:spcAft>
              <a:buSzPct val="100000"/>
              <a:buChar char="•"/>
            </a:pPr>
            <a:r>
              <a:rPr lang="en-US" sz="1300" dirty="0">
                <a:solidFill>
                  <a:srgbClr val="0E1726"/>
                </a:solidFill>
                <a:latin typeface="Calibri" pitchFamily="34" charset="0"/>
                <a:ea typeface="Calibri" pitchFamily="34" charset="-122"/>
                <a:cs typeface="Calibri" pitchFamily="34" charset="-120"/>
              </a:rPr>
              <a:t>10 fraud messages were missed: 7 went to Payments, 2 to Cards, 1 to Account issues.</a:t>
            </a:r>
            <a:endParaRPr lang="en-US" sz="13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Safety nets for the cases that matter most</a:t>
            </a:r>
            <a:endParaRPr lang="en-US" sz="3000" dirty="0"/>
          </a:p>
        </p:txBody>
      </p:sp>
      <p:sp>
        <p:nvSpPr>
          <p:cNvPr id="3" name="Shape 1"/>
          <p:cNvSpPr/>
          <p:nvPr/>
        </p:nvSpPr>
        <p:spPr>
          <a:xfrm>
            <a:off x="548640" y="1325880"/>
            <a:ext cx="6035040" cy="1060704"/>
          </a:xfrm>
          <a:prstGeom prst="roundRect">
            <a:avLst>
              <a:gd name="adj" fmla="val 10345"/>
            </a:avLst>
          </a:prstGeom>
          <a:solidFill>
            <a:srgbClr val="F4F6FB"/>
          </a:solidFill>
          <a:ln w="12700">
            <a:solidFill>
              <a:srgbClr val="F4F6FB"/>
            </a:solidFill>
            <a:prstDash val="solid"/>
          </a:ln>
        </p:spPr>
      </p:sp>
      <p:sp>
        <p:nvSpPr>
          <p:cNvPr id="4" name="Shape 2"/>
          <p:cNvSpPr/>
          <p:nvPr/>
        </p:nvSpPr>
        <p:spPr>
          <a:xfrm>
            <a:off x="749808" y="1554480"/>
            <a:ext cx="603504" cy="603504"/>
          </a:xfrm>
          <a:prstGeom prst="ellipse">
            <a:avLst/>
          </a:prstGeom>
          <a:solidFill>
            <a:srgbClr val="EEF0FF"/>
          </a:solidFill>
          <a:ln w="12700">
            <a:solidFill>
              <a:srgbClr val="EEF0FF"/>
            </a:solidFill>
            <a:prstDash val="solid"/>
          </a:ln>
        </p:spPr>
      </p:sp>
      <p:pic>
        <p:nvPicPr>
          <p:cNvPr id="5" name="Image 0" descr="preencoded.png">    </p:cNvPr>
          <p:cNvPicPr>
            <a:picLocks noChangeAspect="1"/>
          </p:cNvPicPr>
          <p:nvPr/>
        </p:nvPicPr>
        <p:blipFill>
          <a:blip r:embed="rId1"/>
          <a:stretch>
            <a:fillRect/>
          </a:stretch>
        </p:blipFill>
        <p:spPr>
          <a:xfrm>
            <a:off x="894649" y="1699321"/>
            <a:ext cx="313822" cy="313822"/>
          </a:xfrm>
          <a:prstGeom prst="rect">
            <a:avLst/>
          </a:prstGeom>
        </p:spPr>
      </p:pic>
      <p:sp>
        <p:nvSpPr>
          <p:cNvPr id="6" name="Text 3"/>
          <p:cNvSpPr txBox="1"/>
          <p:nvPr/>
        </p:nvSpPr>
        <p:spPr>
          <a:xfrm>
            <a:off x="1554480" y="1444752"/>
            <a:ext cx="48463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Not sure? A person checks</a:t>
            </a:r>
            <a:endParaRPr lang="en-US" sz="1500" dirty="0"/>
          </a:p>
        </p:txBody>
      </p:sp>
      <p:sp>
        <p:nvSpPr>
          <p:cNvPr id="7" name="Text 4"/>
          <p:cNvSpPr txBox="1"/>
          <p:nvPr/>
        </p:nvSpPr>
        <p:spPr>
          <a:xfrm>
            <a:off x="1554480" y="1755648"/>
            <a:ext cx="4892040" cy="60350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If the system is less than 60% sure, the message goes to manual review instead of guessing.</a:t>
            </a:r>
            <a:endParaRPr lang="en-US" sz="1200" dirty="0"/>
          </a:p>
        </p:txBody>
      </p:sp>
      <p:sp>
        <p:nvSpPr>
          <p:cNvPr id="8" name="Shape 5"/>
          <p:cNvSpPr/>
          <p:nvPr/>
        </p:nvSpPr>
        <p:spPr>
          <a:xfrm>
            <a:off x="548640" y="2532888"/>
            <a:ext cx="6035040" cy="1060704"/>
          </a:xfrm>
          <a:prstGeom prst="roundRect">
            <a:avLst>
              <a:gd name="adj" fmla="val 10345"/>
            </a:avLst>
          </a:prstGeom>
          <a:solidFill>
            <a:srgbClr val="F4F6FB"/>
          </a:solidFill>
          <a:ln w="12700">
            <a:solidFill>
              <a:srgbClr val="F4F6FB"/>
            </a:solidFill>
            <a:prstDash val="solid"/>
          </a:ln>
        </p:spPr>
      </p:sp>
      <p:sp>
        <p:nvSpPr>
          <p:cNvPr id="9" name="Shape 6"/>
          <p:cNvSpPr/>
          <p:nvPr/>
        </p:nvSpPr>
        <p:spPr>
          <a:xfrm>
            <a:off x="749808" y="2761488"/>
            <a:ext cx="603504" cy="603504"/>
          </a:xfrm>
          <a:prstGeom prst="ellipse">
            <a:avLst/>
          </a:prstGeom>
          <a:solidFill>
            <a:srgbClr val="EEF0FF"/>
          </a:solidFill>
          <a:ln w="12700">
            <a:solidFill>
              <a:srgbClr val="EEF0FF"/>
            </a:solidFill>
            <a:prstDash val="solid"/>
          </a:ln>
        </p:spPr>
      </p:sp>
      <p:pic>
        <p:nvPicPr>
          <p:cNvPr id="10" name="Image 1" descr="preencoded.png">    </p:cNvPr>
          <p:cNvPicPr>
            <a:picLocks noChangeAspect="1"/>
          </p:cNvPicPr>
          <p:nvPr/>
        </p:nvPicPr>
        <p:blipFill>
          <a:blip r:embed="rId2"/>
          <a:stretch>
            <a:fillRect/>
          </a:stretch>
        </p:blipFill>
        <p:spPr>
          <a:xfrm>
            <a:off x="894649" y="2906329"/>
            <a:ext cx="313822" cy="313822"/>
          </a:xfrm>
          <a:prstGeom prst="rect">
            <a:avLst/>
          </a:prstGeom>
        </p:spPr>
      </p:pic>
      <p:sp>
        <p:nvSpPr>
          <p:cNvPr id="11" name="Text 7"/>
          <p:cNvSpPr txBox="1"/>
          <p:nvPr/>
        </p:nvSpPr>
        <p:spPr>
          <a:xfrm>
            <a:off x="1554480" y="2651760"/>
            <a:ext cx="48463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Fraud safety net</a:t>
            </a:r>
            <a:endParaRPr lang="en-US" sz="1500" dirty="0"/>
          </a:p>
        </p:txBody>
      </p:sp>
      <p:sp>
        <p:nvSpPr>
          <p:cNvPr id="12" name="Text 8"/>
          <p:cNvSpPr txBox="1"/>
          <p:nvPr/>
        </p:nvSpPr>
        <p:spPr>
          <a:xfrm>
            <a:off x="1554480" y="2962656"/>
            <a:ext cx="4892040" cy="60350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Clear fraud phrases (“skimmed”, “cloned”, “scam”, “wasn’t me”) always go to Fraud. Weaker words like “fraud” only count if the system also gives fraud at least 10%.</a:t>
            </a:r>
            <a:endParaRPr lang="en-US" sz="1200" dirty="0"/>
          </a:p>
        </p:txBody>
      </p:sp>
      <p:sp>
        <p:nvSpPr>
          <p:cNvPr id="13" name="Shape 9"/>
          <p:cNvSpPr/>
          <p:nvPr/>
        </p:nvSpPr>
        <p:spPr>
          <a:xfrm>
            <a:off x="548640" y="3739896"/>
            <a:ext cx="6035040" cy="1060704"/>
          </a:xfrm>
          <a:prstGeom prst="roundRect">
            <a:avLst>
              <a:gd name="adj" fmla="val 10345"/>
            </a:avLst>
          </a:prstGeom>
          <a:solidFill>
            <a:srgbClr val="F4F6FB"/>
          </a:solidFill>
          <a:ln w="12700">
            <a:solidFill>
              <a:srgbClr val="F4F6FB"/>
            </a:solidFill>
            <a:prstDash val="solid"/>
          </a:ln>
        </p:spPr>
      </p:sp>
      <p:sp>
        <p:nvSpPr>
          <p:cNvPr id="14" name="Shape 10"/>
          <p:cNvSpPr/>
          <p:nvPr/>
        </p:nvSpPr>
        <p:spPr>
          <a:xfrm>
            <a:off x="749808" y="3968496"/>
            <a:ext cx="603504" cy="603504"/>
          </a:xfrm>
          <a:prstGeom prst="ellipse">
            <a:avLst/>
          </a:prstGeom>
          <a:solidFill>
            <a:srgbClr val="EEF0FF"/>
          </a:solidFill>
          <a:ln w="12700">
            <a:solidFill>
              <a:srgbClr val="EEF0FF"/>
            </a:solidFill>
            <a:prstDash val="solid"/>
          </a:ln>
        </p:spPr>
      </p:sp>
      <p:pic>
        <p:nvPicPr>
          <p:cNvPr id="15" name="Image 2" descr="preencoded.png">    </p:cNvPr>
          <p:cNvPicPr>
            <a:picLocks noChangeAspect="1"/>
          </p:cNvPicPr>
          <p:nvPr/>
        </p:nvPicPr>
        <p:blipFill>
          <a:blip r:embed="rId3"/>
          <a:stretch>
            <a:fillRect/>
          </a:stretch>
        </p:blipFill>
        <p:spPr>
          <a:xfrm>
            <a:off x="894649" y="4113337"/>
            <a:ext cx="313822" cy="313822"/>
          </a:xfrm>
          <a:prstGeom prst="rect">
            <a:avLst/>
          </a:prstGeom>
        </p:spPr>
      </p:pic>
      <p:sp>
        <p:nvSpPr>
          <p:cNvPr id="16" name="Text 11"/>
          <p:cNvSpPr txBox="1"/>
          <p:nvPr/>
        </p:nvSpPr>
        <p:spPr>
          <a:xfrm>
            <a:off x="1554480" y="3858768"/>
            <a:ext cx="4846320" cy="310896"/>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Priority boosts</a:t>
            </a:r>
            <a:endParaRPr lang="en-US" sz="1500" dirty="0"/>
          </a:p>
        </p:txBody>
      </p:sp>
      <p:sp>
        <p:nvSpPr>
          <p:cNvPr id="17" name="Text 12"/>
          <p:cNvSpPr txBox="1"/>
          <p:nvPr/>
        </p:nvSpPr>
        <p:spPr>
          <a:xfrm>
            <a:off x="1554480" y="4169664"/>
            <a:ext cx="4892040" cy="603504"/>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Bereavement and formal complaints are raised to high priority; account takeover to urgent.</a:t>
            </a:r>
            <a:endParaRPr lang="en-US" sz="1200" dirty="0"/>
          </a:p>
        </p:txBody>
      </p:sp>
      <p:sp>
        <p:nvSpPr>
          <p:cNvPr id="18" name="Shape 13"/>
          <p:cNvSpPr/>
          <p:nvPr/>
        </p:nvSpPr>
        <p:spPr>
          <a:xfrm>
            <a:off x="548640" y="5029200"/>
            <a:ext cx="6035040" cy="1005840"/>
          </a:xfrm>
          <a:prstGeom prst="roundRect">
            <a:avLst>
              <a:gd name="adj" fmla="val 10909"/>
            </a:avLst>
          </a:prstGeom>
          <a:solidFill>
            <a:srgbClr val="FDECEE"/>
          </a:solidFill>
          <a:ln w="12700">
            <a:solidFill>
              <a:srgbClr val="FDECEE"/>
            </a:solidFill>
            <a:prstDash val="solid"/>
          </a:ln>
        </p:spPr>
      </p:sp>
      <p:sp>
        <p:nvSpPr>
          <p:cNvPr id="19" name="Text 14"/>
          <p:cNvSpPr txBox="1"/>
          <p:nvPr/>
        </p:nvSpPr>
        <p:spPr>
          <a:xfrm>
            <a:off x="777240" y="5120640"/>
            <a:ext cx="5669280" cy="310896"/>
          </a:xfrm>
          <a:prstGeom prst="rect">
            <a:avLst/>
          </a:prstGeom>
          <a:noFill/>
          <a:ln/>
        </p:spPr>
        <p:txBody>
          <a:bodyPr wrap="square" lIns="0" tIns="0" rIns="0" bIns="0" rtlCol="0" anchor="t"/>
          <a:lstStyle/>
          <a:p>
            <a:pPr indent="0" marL="0">
              <a:buNone/>
            </a:pPr>
            <a:r>
              <a:rPr lang="en-US" sz="1400" b="1" dirty="0">
                <a:solidFill>
                  <a:srgbClr val="C81E33"/>
                </a:solidFill>
                <a:latin typeface="Calibri" pitchFamily="34" charset="0"/>
                <a:ea typeface="Calibri" pitchFamily="34" charset="-122"/>
                <a:cs typeface="Calibri" pitchFamily="34" charset="-120"/>
              </a:rPr>
              <a:t>Example: “My card was skimmed at the ATM”</a:t>
            </a:r>
            <a:endParaRPr lang="en-US" sz="1400" dirty="0"/>
          </a:p>
        </p:txBody>
      </p:sp>
      <p:sp>
        <p:nvSpPr>
          <p:cNvPr id="20" name="Text 15"/>
          <p:cNvSpPr txBox="1"/>
          <p:nvPr/>
        </p:nvSpPr>
        <p:spPr>
          <a:xfrm>
            <a:off x="777240" y="5440680"/>
            <a:ext cx="5669280" cy="566928"/>
          </a:xfrm>
          <a:prstGeom prst="rect">
            <a:avLst/>
          </a:prstGeom>
          <a:noFill/>
          <a:ln/>
        </p:spPr>
        <p:txBody>
          <a:bodyPr wrap="square" lIns="0" tIns="0" rIns="0" bIns="0" rtlCol="0" anchor="t"/>
          <a:lstStyle/>
          <a:p>
            <a:pPr indent="0" marL="0">
              <a:buNone/>
            </a:pPr>
            <a:r>
              <a:rPr lang="en-US" sz="1200" dirty="0">
                <a:solidFill>
                  <a:srgbClr val="0E1726"/>
                </a:solidFill>
                <a:latin typeface="Calibri" pitchFamily="34" charset="0"/>
                <a:ea typeface="Calibri" pitchFamily="34" charset="-122"/>
                <a:cs typeface="Calibri" pitchFamily="34" charset="-120"/>
              </a:rPr>
              <a:t>On its own the system said Cards (100%). The fraud rule spotted “skimmed” and sent it to the Fraud &amp; Security Team as urgent.</a:t>
            </a:r>
            <a:endParaRPr lang="en-US" sz="1200" dirty="0"/>
          </a:p>
        </p:txBody>
      </p:sp>
      <p:sp>
        <p:nvSpPr>
          <p:cNvPr id="21" name="Text 16"/>
          <p:cNvSpPr txBox="1"/>
          <p:nvPr/>
        </p:nvSpPr>
        <p:spPr>
          <a:xfrm>
            <a:off x="6949440" y="1325880"/>
            <a:ext cx="4663440" cy="36576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Every ticket gets a team and a deadline</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49440" y="1783080"/>
          <a:ext cx="4690872" cy="914400"/>
        </p:xfrm>
        <a:graphic>
          <a:graphicData uri="http://schemas.openxmlformats.org/drawingml/2006/table">
            <a:tbl>
              <a:tblPr/>
              <a:tblGrid>
                <a:gridCol w="2423160"/>
                <a:gridCol w="1005840"/>
                <a:gridCol w="1261872"/>
              </a:tblGrid>
              <a:tr h="502920">
                <a:tc>
                  <a:txBody>
                    <a:bodyPr/>
                    <a:lstStyle/>
                    <a:p>
                      <a:pPr indent="0" marL="0">
                        <a:buNone/>
                      </a:pPr>
                      <a:r>
                        <a:rPr lang="en-US" sz="1200" b="1" dirty="0">
                          <a:solidFill>
                            <a:srgbClr val="64748B"/>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6FB"/>
                    </a:solidFill>
                  </a:tcPr>
                </a:tc>
                <a:tc>
                  <a:txBody>
                    <a:bodyPr/>
                    <a:lstStyle/>
                    <a:p>
                      <a:pPr indent="0" marL="0">
                        <a:buNone/>
                      </a:pPr>
                      <a:r>
                        <a:rPr lang="en-US" sz="1200" b="1" dirty="0">
                          <a:solidFill>
                            <a:srgbClr val="64748B"/>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6FB"/>
                    </a:solidFill>
                  </a:tcPr>
                </a:tc>
                <a:tc>
                  <a:txBody>
                    <a:bodyPr/>
                    <a:lstStyle/>
                    <a:p>
                      <a:pPr indent="0" marL="0">
                        <a:buNone/>
                      </a:pPr>
                      <a:r>
                        <a:rPr lang="en-US" sz="1200" b="1" dirty="0">
                          <a:solidFill>
                            <a:srgbClr val="64748B"/>
                          </a:solidFill>
                          <a:latin typeface="Calibri" pitchFamily="34" charset="0"/>
                          <a:ea typeface="Calibri" pitchFamily="34" charset="-122"/>
                          <a:cs typeface="Calibri" pitchFamily="34" charset="-120"/>
                        </a:rPr>
                        <a:t>Reply within</a:t>
                      </a:r>
                      <a:endParaRPr lang="en-US" sz="12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6FB"/>
                    </a:solidFill>
                  </a:tcPr>
                </a:tc>
              </a:tr>
              <a:tr h="502920">
                <a:tc>
                  <a:txBody>
                    <a:bodyPr/>
                    <a:lstStyle/>
                    <a:p>
                      <a:pPr indent="0" marL="0">
                        <a:buNone/>
                      </a:pPr>
                      <a:r>
                        <a:rPr lang="en-US" sz="1300" b="1" dirty="0">
                          <a:solidFill>
                            <a:srgbClr val="C81E33"/>
                          </a:solidFill>
                          <a:latin typeface="Calibri" pitchFamily="34" charset="0"/>
                          <a:ea typeface="Calibri" pitchFamily="34" charset="-122"/>
                          <a:cs typeface="Calibri" pitchFamily="34" charset="-120"/>
                        </a:rPr>
                        <a:t>Fraud &amp; Security Team</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latin typeface="Calibri" pitchFamily="34" charset="0"/>
                          <a:ea typeface="Calibri" pitchFamily="34" charset="-122"/>
                          <a:cs typeface="Calibri" pitchFamily="34" charset="-120"/>
                        </a:rPr>
                        <a:t>Urgent</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E1726"/>
                          </a:solidFill>
                          <a:latin typeface="Calibri" pitchFamily="34" charset="0"/>
                          <a:ea typeface="Calibri" pitchFamily="34" charset="-122"/>
                          <a:cs typeface="Calibri" pitchFamily="34" charset="-120"/>
                        </a:rPr>
                        <a:t>1 hour</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0806A"/>
                          </a:solidFill>
                          <a:latin typeface="Calibri" pitchFamily="34" charset="0"/>
                          <a:ea typeface="Calibri" pitchFamily="34" charset="-122"/>
                          <a:cs typeface="Calibri" pitchFamily="34" charset="-120"/>
                        </a:rPr>
                        <a:t>Payments &amp; Transfers Desk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E1726"/>
                          </a:solidFill>
                          <a:latin typeface="Calibri" pitchFamily="34" charset="0"/>
                          <a:ea typeface="Calibri" pitchFamily="34" charset="-122"/>
                          <a:cs typeface="Calibri" pitchFamily="34" charset="-120"/>
                        </a:rPr>
                        <a:t>8 hours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2B4FD8"/>
                          </a:solidFill>
                          <a:latin typeface="Calibri" pitchFamily="34" charset="0"/>
                          <a:ea typeface="Calibri" pitchFamily="34" charset="-122"/>
                          <a:cs typeface="Calibri" pitchFamily="34" charset="-120"/>
                        </a:rPr>
                        <a:t>Card Services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E1726"/>
                          </a:solidFill>
                          <a:latin typeface="Calibri" pitchFamily="34" charset="0"/>
                          <a:ea typeface="Calibri" pitchFamily="34" charset="-122"/>
                          <a:cs typeface="Calibri" pitchFamily="34" charset="-120"/>
                        </a:rPr>
                        <a:t>24 hours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7A3E9D"/>
                          </a:solidFill>
                          <a:latin typeface="Calibri" pitchFamily="34" charset="0"/>
                          <a:ea typeface="Calibri" pitchFamily="34" charset="-122"/>
                          <a:cs typeface="Calibri" pitchFamily="34" charset="-120"/>
                        </a:rPr>
                        <a:t>Account Services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E1726"/>
                          </a:solidFill>
                          <a:latin typeface="Calibri" pitchFamily="34" charset="0"/>
                          <a:ea typeface="Calibri" pitchFamily="34" charset="-122"/>
                          <a:cs typeface="Calibri" pitchFamily="34" charset="-120"/>
                        </a:rPr>
                        <a:t>24 hours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A86B12"/>
                          </a:solidFill>
                          <a:latin typeface="Calibri" pitchFamily="34" charset="0"/>
                          <a:ea typeface="Calibri" pitchFamily="34" charset="-122"/>
                          <a:cs typeface="Calibri" pitchFamily="34" charset="-120"/>
                        </a:rPr>
                        <a:t>Lending Team</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E1726"/>
                          </a:solidFill>
                          <a:latin typeface="Calibri" pitchFamily="34" charset="0"/>
                          <a:ea typeface="Calibri" pitchFamily="34" charset="-122"/>
                          <a:cs typeface="Calibri" pitchFamily="34" charset="-120"/>
                        </a:rPr>
                        <a:t>48 hours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7A8394"/>
                          </a:solidFill>
                          <a:latin typeface="Calibri" pitchFamily="34" charset="0"/>
                          <a:ea typeface="Calibri" pitchFamily="34" charset="-122"/>
                          <a:cs typeface="Calibri" pitchFamily="34" charset="-120"/>
                        </a:rPr>
                        <a:t>Manual review</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E1726"/>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E1726"/>
                          </a:solidFill>
                          <a:latin typeface="Calibri" pitchFamily="34" charset="0"/>
                          <a:ea typeface="Calibri" pitchFamily="34" charset="-122"/>
                          <a:cs typeface="Calibri" pitchFamily="34" charset="-120"/>
                        </a:rPr>
                        <a:t>24 hours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592928" y="1737360"/>
            <a:ext cx="1005840" cy="1005840"/>
          </a:xfrm>
          <a:prstGeom prst="ellipse">
            <a:avLst/>
          </a:prstGeom>
          <a:solidFill>
            <a:srgbClr val="232E4D"/>
          </a:solidFill>
          <a:ln w="12700">
            <a:solidFill>
              <a:srgbClr val="232E4D"/>
            </a:solidFill>
            <a:prstDash val="solid"/>
          </a:ln>
        </p:spPr>
      </p:sp>
      <p:pic>
        <p:nvPicPr>
          <p:cNvPr id="3" name="Image 0" descr="preencoded.png">    </p:cNvPr>
          <p:cNvPicPr>
            <a:picLocks noChangeAspect="1"/>
          </p:cNvPicPr>
          <p:nvPr/>
        </p:nvPicPr>
        <p:blipFill>
          <a:blip r:embed="rId1"/>
          <a:stretch>
            <a:fillRect/>
          </a:stretch>
        </p:blipFill>
        <p:spPr>
          <a:xfrm>
            <a:off x="5834329" y="1978762"/>
            <a:ext cx="523037" cy="523037"/>
          </a:xfrm>
          <a:prstGeom prst="rect">
            <a:avLst/>
          </a:prstGeom>
        </p:spPr>
      </p:pic>
      <p:sp>
        <p:nvSpPr>
          <p:cNvPr id="4" name="Text 1"/>
          <p:cNvSpPr txBox="1"/>
          <p:nvPr/>
        </p:nvSpPr>
        <p:spPr>
          <a:xfrm>
            <a:off x="914400" y="2926080"/>
            <a:ext cx="10362895"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Live demo</a:t>
            </a:r>
            <a:endParaRPr lang="en-US" sz="4400" dirty="0"/>
          </a:p>
        </p:txBody>
      </p:sp>
      <p:sp>
        <p:nvSpPr>
          <p:cNvPr id="5" name="Text 2"/>
          <p:cNvSpPr txBox="1"/>
          <p:nvPr/>
        </p:nvSpPr>
        <p:spPr>
          <a:xfrm>
            <a:off x="914400" y="3749040"/>
            <a:ext cx="10362895" cy="548640"/>
          </a:xfrm>
          <a:prstGeom prst="rect">
            <a:avLst/>
          </a:prstGeom>
          <a:noFill/>
          <a:ln/>
        </p:spPr>
        <p:txBody>
          <a:bodyPr wrap="square" lIns="0" tIns="0" rIns="0" bIns="0" rtlCol="0" anchor="t"/>
          <a:lstStyle/>
          <a:p>
            <a:pPr algn="ctr" indent="0" marL="0">
              <a:buNone/>
            </a:pPr>
            <a:r>
              <a:rPr lang="en-US" sz="2200" dirty="0">
                <a:solidFill>
                  <a:srgbClr val="CBD5E1"/>
                </a:solidFill>
                <a:latin typeface="Calibri" pitchFamily="34" charset="0"/>
                <a:ea typeface="Calibri" pitchFamily="34" charset="-122"/>
                <a:cs typeface="Calibri" pitchFamily="34" charset="-120"/>
              </a:rPr>
              <a:t>Routing a message as you type</a:t>
            </a:r>
            <a:endParaRPr lang="en-US" sz="2200" dirty="0"/>
          </a:p>
        </p:txBody>
      </p:sp>
      <p:sp>
        <p:nvSpPr>
          <p:cNvPr id="6" name="Text 3"/>
          <p:cNvSpPr txBox="1"/>
          <p:nvPr/>
        </p:nvSpPr>
        <p:spPr>
          <a:xfrm>
            <a:off x="914400" y="4754880"/>
            <a:ext cx="10362895" cy="365760"/>
          </a:xfrm>
          <a:prstGeom prst="rect">
            <a:avLst/>
          </a:prstGeom>
          <a:noFill/>
          <a:ln/>
        </p:spPr>
        <p:txBody>
          <a:bodyPr wrap="square" lIns="0" tIns="0" rIns="0" bIns="0" rtlCol="0" anchor="t"/>
          <a:lstStyle/>
          <a:p>
            <a:pPr algn="ctr" indent="0" marL="0">
              <a:buNone/>
            </a:pPr>
            <a:r>
              <a:rPr lang="en-US" sz="1400" b="1" spc="200" kern="0" dirty="0">
                <a:solidFill>
                  <a:srgbClr val="C7D2FE"/>
                </a:solidFill>
                <a:latin typeface="Calibri" pitchFamily="34" charset="0"/>
                <a:ea typeface="Calibri" pitchFamily="34" charset="-122"/>
                <a:cs typeface="Calibri" pitchFamily="34" charset="-120"/>
              </a:rPr>
              <a:t>Switch to the app now</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The agent inbox and the analytics view</a:t>
            </a:r>
            <a:endParaRPr lang="en-US" sz="3000" dirty="0"/>
          </a:p>
        </p:txBody>
      </p:sp>
      <p:sp>
        <p:nvSpPr>
          <p:cNvPr id="3" name="Shape 1"/>
          <p:cNvSpPr/>
          <p:nvPr/>
        </p:nvSpPr>
        <p:spPr>
          <a:xfrm>
            <a:off x="502920" y="1280160"/>
            <a:ext cx="5440680" cy="3493008"/>
          </a:xfrm>
          <a:prstGeom prst="roundRect">
            <a:avLst>
              <a:gd name="adj" fmla="val 2094"/>
            </a:avLst>
          </a:prstGeom>
          <a:solidFill>
            <a:srgbClr val="F4F6FB"/>
          </a:solidFill>
          <a:ln w="12700">
            <a:solidFill>
              <a:srgbClr val="E2E8F0"/>
            </a:solidFill>
            <a:prstDash val="solid"/>
          </a:ln>
        </p:spPr>
      </p:sp>
      <p:pic>
        <p:nvPicPr>
          <p:cNvPr id="4" name="Image 0" descr="preencoded.png">    </p:cNvPr>
          <p:cNvPicPr>
            <a:picLocks noChangeAspect="1"/>
          </p:cNvPicPr>
          <p:nvPr/>
        </p:nvPicPr>
        <p:blipFill>
          <a:blip r:embed="rId1"/>
          <a:stretch>
            <a:fillRect/>
          </a:stretch>
        </p:blipFill>
        <p:spPr>
          <a:xfrm>
            <a:off x="548640" y="1325880"/>
            <a:ext cx="5349240" cy="3346704"/>
          </a:xfrm>
          <a:prstGeom prst="rect">
            <a:avLst/>
          </a:prstGeom>
        </p:spPr>
      </p:pic>
      <p:sp>
        <p:nvSpPr>
          <p:cNvPr id="5" name="Text 2"/>
          <p:cNvSpPr txBox="1"/>
          <p:nvPr/>
        </p:nvSpPr>
        <p:spPr>
          <a:xfrm>
            <a:off x="548640" y="4983480"/>
            <a:ext cx="5349240" cy="7315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Inbox: tickets sorted by urgency and deadline. Agents can re-route, assign and add notes.</a:t>
            </a:r>
            <a:endParaRPr lang="en-US" sz="1400" dirty="0"/>
          </a:p>
        </p:txBody>
      </p:sp>
      <p:sp>
        <p:nvSpPr>
          <p:cNvPr id="6" name="Shape 3"/>
          <p:cNvSpPr/>
          <p:nvPr/>
        </p:nvSpPr>
        <p:spPr>
          <a:xfrm>
            <a:off x="6172200" y="1280160"/>
            <a:ext cx="5440680" cy="3493008"/>
          </a:xfrm>
          <a:prstGeom prst="roundRect">
            <a:avLst>
              <a:gd name="adj" fmla="val 2094"/>
            </a:avLst>
          </a:prstGeom>
          <a:solidFill>
            <a:srgbClr val="F4F6FB"/>
          </a:solidFill>
          <a:ln w="12700">
            <a:solidFill>
              <a:srgbClr val="E2E8F0"/>
            </a:solidFill>
            <a:prstDash val="solid"/>
          </a:ln>
        </p:spPr>
      </p:sp>
      <p:pic>
        <p:nvPicPr>
          <p:cNvPr id="7" name="Image 1" descr="preencoded.png">    </p:cNvPr>
          <p:cNvPicPr>
            <a:picLocks noChangeAspect="1"/>
          </p:cNvPicPr>
          <p:nvPr/>
        </p:nvPicPr>
        <p:blipFill>
          <a:blip r:embed="rId2"/>
          <a:stretch>
            <a:fillRect/>
          </a:stretch>
        </p:blipFill>
        <p:spPr>
          <a:xfrm>
            <a:off x="6217920" y="1325880"/>
            <a:ext cx="5349240" cy="3346704"/>
          </a:xfrm>
          <a:prstGeom prst="rect">
            <a:avLst/>
          </a:prstGeom>
        </p:spPr>
      </p:pic>
      <p:sp>
        <p:nvSpPr>
          <p:cNvPr id="8" name="Text 4"/>
          <p:cNvSpPr txBox="1"/>
          <p:nvPr/>
        </p:nvSpPr>
        <p:spPr>
          <a:xfrm>
            <a:off x="6217920" y="4983480"/>
            <a:ext cx="5349240" cy="7315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Analytics: tickets per day, open work per team, missed deadlines and agent corrections.</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Batch routing and the model report</a:t>
            </a:r>
            <a:endParaRPr lang="en-US" sz="3000" dirty="0"/>
          </a:p>
        </p:txBody>
      </p:sp>
      <p:sp>
        <p:nvSpPr>
          <p:cNvPr id="3" name="Shape 1"/>
          <p:cNvSpPr/>
          <p:nvPr/>
        </p:nvSpPr>
        <p:spPr>
          <a:xfrm>
            <a:off x="502920" y="1280160"/>
            <a:ext cx="5440680" cy="3493008"/>
          </a:xfrm>
          <a:prstGeom prst="roundRect">
            <a:avLst>
              <a:gd name="adj" fmla="val 2094"/>
            </a:avLst>
          </a:prstGeom>
          <a:solidFill>
            <a:srgbClr val="F4F6FB"/>
          </a:solidFill>
          <a:ln w="12700">
            <a:solidFill>
              <a:srgbClr val="E2E8F0"/>
            </a:solidFill>
            <a:prstDash val="solid"/>
          </a:ln>
        </p:spPr>
      </p:sp>
      <p:pic>
        <p:nvPicPr>
          <p:cNvPr id="4" name="Image 0" descr="preencoded.png">    </p:cNvPr>
          <p:cNvPicPr>
            <a:picLocks noChangeAspect="1"/>
          </p:cNvPicPr>
          <p:nvPr/>
        </p:nvPicPr>
        <p:blipFill>
          <a:blip r:embed="rId1"/>
          <a:stretch>
            <a:fillRect/>
          </a:stretch>
        </p:blipFill>
        <p:spPr>
          <a:xfrm>
            <a:off x="548640" y="1325880"/>
            <a:ext cx="5349240" cy="3346704"/>
          </a:xfrm>
          <a:prstGeom prst="rect">
            <a:avLst/>
          </a:prstGeom>
        </p:spPr>
      </p:pic>
      <p:sp>
        <p:nvSpPr>
          <p:cNvPr id="5" name="Text 2"/>
          <p:cNvSpPr txBox="1"/>
          <p:nvPr/>
        </p:nvSpPr>
        <p:spPr>
          <a:xfrm>
            <a:off x="548640" y="4983480"/>
            <a:ext cx="5349240" cy="7315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Batch: paste or upload up to 1,000 messages and download the results.</a:t>
            </a:r>
            <a:endParaRPr lang="en-US" sz="1400" dirty="0"/>
          </a:p>
        </p:txBody>
      </p:sp>
      <p:sp>
        <p:nvSpPr>
          <p:cNvPr id="6" name="Shape 3"/>
          <p:cNvSpPr/>
          <p:nvPr/>
        </p:nvSpPr>
        <p:spPr>
          <a:xfrm>
            <a:off x="6172200" y="1280160"/>
            <a:ext cx="5440680" cy="3493008"/>
          </a:xfrm>
          <a:prstGeom prst="roundRect">
            <a:avLst>
              <a:gd name="adj" fmla="val 2094"/>
            </a:avLst>
          </a:prstGeom>
          <a:solidFill>
            <a:srgbClr val="F4F6FB"/>
          </a:solidFill>
          <a:ln w="12700">
            <a:solidFill>
              <a:srgbClr val="E2E8F0"/>
            </a:solidFill>
            <a:prstDash val="solid"/>
          </a:ln>
        </p:spPr>
      </p:sp>
      <p:pic>
        <p:nvPicPr>
          <p:cNvPr id="7" name="Image 1" descr="preencoded.png">    </p:cNvPr>
          <p:cNvPicPr>
            <a:picLocks noChangeAspect="1"/>
          </p:cNvPicPr>
          <p:nvPr/>
        </p:nvPicPr>
        <p:blipFill>
          <a:blip r:embed="rId2"/>
          <a:stretch>
            <a:fillRect/>
          </a:stretch>
        </p:blipFill>
        <p:spPr>
          <a:xfrm>
            <a:off x="6217920" y="1325880"/>
            <a:ext cx="5349240" cy="3346704"/>
          </a:xfrm>
          <a:prstGeom prst="rect">
            <a:avLst/>
          </a:prstGeom>
        </p:spPr>
      </p:pic>
      <p:sp>
        <p:nvSpPr>
          <p:cNvPr id="8" name="Text 4"/>
          <p:cNvSpPr txBox="1"/>
          <p:nvPr/>
        </p:nvSpPr>
        <p:spPr>
          <a:xfrm>
            <a:off x="6217920" y="4983480"/>
            <a:ext cx="5349240" cy="7315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Model report: scores, model comparison, versions and the release check.</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Built like a real product, not just a model</a:t>
            </a:r>
            <a:endParaRPr lang="en-US" sz="3000" dirty="0"/>
          </a:p>
        </p:txBody>
      </p:sp>
      <p:sp>
        <p:nvSpPr>
          <p:cNvPr id="3" name="Shape 1"/>
          <p:cNvSpPr/>
          <p:nvPr/>
        </p:nvSpPr>
        <p:spPr>
          <a:xfrm>
            <a:off x="548640" y="1371600"/>
            <a:ext cx="3520440" cy="2148840"/>
          </a:xfrm>
          <a:prstGeom prst="roundRect">
            <a:avLst>
              <a:gd name="adj" fmla="val 5106"/>
            </a:avLst>
          </a:prstGeom>
          <a:solidFill>
            <a:srgbClr val="F4F6FB"/>
          </a:solidFill>
          <a:ln w="12700">
            <a:solidFill>
              <a:srgbClr val="F4F6FB"/>
            </a:solidFill>
            <a:prstDash val="solid"/>
          </a:ln>
        </p:spPr>
      </p:sp>
      <p:sp>
        <p:nvSpPr>
          <p:cNvPr id="4" name="Shape 2"/>
          <p:cNvSpPr/>
          <p:nvPr/>
        </p:nvSpPr>
        <p:spPr>
          <a:xfrm>
            <a:off x="804672" y="1627632"/>
            <a:ext cx="566928" cy="566928"/>
          </a:xfrm>
          <a:prstGeom prst="ellipse">
            <a:avLst/>
          </a:prstGeom>
          <a:solidFill>
            <a:srgbClr val="EEF0FF"/>
          </a:solidFill>
          <a:ln w="12700">
            <a:solidFill>
              <a:srgbClr val="EEF0FF"/>
            </a:solidFill>
            <a:prstDash val="solid"/>
          </a:ln>
        </p:spPr>
      </p:sp>
      <p:pic>
        <p:nvPicPr>
          <p:cNvPr id="5" name="Image 0" descr="preencoded.png">    </p:cNvPr>
          <p:cNvPicPr>
            <a:picLocks noChangeAspect="1"/>
          </p:cNvPicPr>
          <p:nvPr/>
        </p:nvPicPr>
        <p:blipFill>
          <a:blip r:embed="rId1"/>
          <a:stretch>
            <a:fillRect/>
          </a:stretch>
        </p:blipFill>
        <p:spPr>
          <a:xfrm>
            <a:off x="940735" y="1763695"/>
            <a:ext cx="294803" cy="294803"/>
          </a:xfrm>
          <a:prstGeom prst="rect">
            <a:avLst/>
          </a:prstGeom>
        </p:spPr>
      </p:pic>
      <p:sp>
        <p:nvSpPr>
          <p:cNvPr id="6" name="Text 3"/>
          <p:cNvSpPr txBox="1"/>
          <p:nvPr/>
        </p:nvSpPr>
        <p:spPr>
          <a:xfrm>
            <a:off x="804672" y="2286000"/>
            <a:ext cx="3063240" cy="329184"/>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Privacy first</a:t>
            </a:r>
            <a:endParaRPr lang="en-US" sz="1500" dirty="0"/>
          </a:p>
        </p:txBody>
      </p:sp>
      <p:sp>
        <p:nvSpPr>
          <p:cNvPr id="7" name="Text 4"/>
          <p:cNvSpPr txBox="1"/>
          <p:nvPr/>
        </p:nvSpPr>
        <p:spPr>
          <a:xfrm>
            <a:off x="804672" y="2633472"/>
            <a:ext cx="3063240" cy="82296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Personal details are hidden before anything is saved or logged.</a:t>
            </a:r>
            <a:endParaRPr lang="en-US" sz="1200" dirty="0"/>
          </a:p>
        </p:txBody>
      </p:sp>
      <p:sp>
        <p:nvSpPr>
          <p:cNvPr id="8" name="Shape 5"/>
          <p:cNvSpPr/>
          <p:nvPr/>
        </p:nvSpPr>
        <p:spPr>
          <a:xfrm>
            <a:off x="4297680" y="1371600"/>
            <a:ext cx="3520440" cy="2148840"/>
          </a:xfrm>
          <a:prstGeom prst="roundRect">
            <a:avLst>
              <a:gd name="adj" fmla="val 5106"/>
            </a:avLst>
          </a:prstGeom>
          <a:solidFill>
            <a:srgbClr val="F4F6FB"/>
          </a:solidFill>
          <a:ln w="12700">
            <a:solidFill>
              <a:srgbClr val="F4F6FB"/>
            </a:solidFill>
            <a:prstDash val="solid"/>
          </a:ln>
        </p:spPr>
      </p:sp>
      <p:sp>
        <p:nvSpPr>
          <p:cNvPr id="9" name="Shape 6"/>
          <p:cNvSpPr/>
          <p:nvPr/>
        </p:nvSpPr>
        <p:spPr>
          <a:xfrm>
            <a:off x="4553712" y="1627632"/>
            <a:ext cx="566928" cy="566928"/>
          </a:xfrm>
          <a:prstGeom prst="ellipse">
            <a:avLst/>
          </a:prstGeom>
          <a:solidFill>
            <a:srgbClr val="EEF0FF"/>
          </a:solidFill>
          <a:ln w="12700">
            <a:solidFill>
              <a:srgbClr val="EEF0FF"/>
            </a:solidFill>
            <a:prstDash val="solid"/>
          </a:ln>
        </p:spPr>
      </p:sp>
      <p:pic>
        <p:nvPicPr>
          <p:cNvPr id="10" name="Image 1" descr="preencoded.png">    </p:cNvPr>
          <p:cNvPicPr>
            <a:picLocks noChangeAspect="1"/>
          </p:cNvPicPr>
          <p:nvPr/>
        </p:nvPicPr>
        <p:blipFill>
          <a:blip r:embed="rId2"/>
          <a:stretch>
            <a:fillRect/>
          </a:stretch>
        </p:blipFill>
        <p:spPr>
          <a:xfrm>
            <a:off x="4689775" y="1763695"/>
            <a:ext cx="294803" cy="294803"/>
          </a:xfrm>
          <a:prstGeom prst="rect">
            <a:avLst/>
          </a:prstGeom>
        </p:spPr>
      </p:pic>
      <p:sp>
        <p:nvSpPr>
          <p:cNvPr id="11" name="Text 7"/>
          <p:cNvSpPr txBox="1"/>
          <p:nvPr/>
        </p:nvSpPr>
        <p:spPr>
          <a:xfrm>
            <a:off x="4553712" y="2286000"/>
            <a:ext cx="3063240" cy="329184"/>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Release check</a:t>
            </a:r>
            <a:endParaRPr lang="en-US" sz="1500" dirty="0"/>
          </a:p>
        </p:txBody>
      </p:sp>
      <p:sp>
        <p:nvSpPr>
          <p:cNvPr id="12" name="Text 8"/>
          <p:cNvSpPr txBox="1"/>
          <p:nvPr/>
        </p:nvSpPr>
        <p:spPr>
          <a:xfrm>
            <a:off x="4553712" y="2633472"/>
            <a:ext cx="3063240" cy="82296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A new model goes live only if it scores at least 0.93 overall, catches at least 90% of fraud and gets topics right at least 80% of the time.</a:t>
            </a:r>
            <a:endParaRPr lang="en-US" sz="1200" dirty="0"/>
          </a:p>
        </p:txBody>
      </p:sp>
      <p:sp>
        <p:nvSpPr>
          <p:cNvPr id="13" name="Shape 9"/>
          <p:cNvSpPr/>
          <p:nvPr/>
        </p:nvSpPr>
        <p:spPr>
          <a:xfrm>
            <a:off x="8046720" y="1371600"/>
            <a:ext cx="3520440" cy="2148840"/>
          </a:xfrm>
          <a:prstGeom prst="roundRect">
            <a:avLst>
              <a:gd name="adj" fmla="val 5106"/>
            </a:avLst>
          </a:prstGeom>
          <a:solidFill>
            <a:srgbClr val="F4F6FB"/>
          </a:solidFill>
          <a:ln w="12700">
            <a:solidFill>
              <a:srgbClr val="F4F6FB"/>
            </a:solidFill>
            <a:prstDash val="solid"/>
          </a:ln>
        </p:spPr>
      </p:sp>
      <p:sp>
        <p:nvSpPr>
          <p:cNvPr id="14" name="Shape 10"/>
          <p:cNvSpPr/>
          <p:nvPr/>
        </p:nvSpPr>
        <p:spPr>
          <a:xfrm>
            <a:off x="8302752" y="1627632"/>
            <a:ext cx="566928" cy="566928"/>
          </a:xfrm>
          <a:prstGeom prst="ellipse">
            <a:avLst/>
          </a:prstGeom>
          <a:solidFill>
            <a:srgbClr val="EEF0FF"/>
          </a:solidFill>
          <a:ln w="12700">
            <a:solidFill>
              <a:srgbClr val="EEF0FF"/>
            </a:solidFill>
            <a:prstDash val="solid"/>
          </a:ln>
        </p:spPr>
      </p:sp>
      <p:pic>
        <p:nvPicPr>
          <p:cNvPr id="15" name="Image 2" descr="preencoded.png">    </p:cNvPr>
          <p:cNvPicPr>
            <a:picLocks noChangeAspect="1"/>
          </p:cNvPicPr>
          <p:nvPr/>
        </p:nvPicPr>
        <p:blipFill>
          <a:blip r:embed="rId3"/>
          <a:stretch>
            <a:fillRect/>
          </a:stretch>
        </p:blipFill>
        <p:spPr>
          <a:xfrm>
            <a:off x="8438815" y="1763695"/>
            <a:ext cx="294803" cy="294803"/>
          </a:xfrm>
          <a:prstGeom prst="rect">
            <a:avLst/>
          </a:prstGeom>
        </p:spPr>
      </p:pic>
      <p:sp>
        <p:nvSpPr>
          <p:cNvPr id="16" name="Text 11"/>
          <p:cNvSpPr txBox="1"/>
          <p:nvPr/>
        </p:nvSpPr>
        <p:spPr>
          <a:xfrm>
            <a:off x="8302752" y="2286000"/>
            <a:ext cx="3063240" cy="329184"/>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Learns from agents</a:t>
            </a:r>
            <a:endParaRPr lang="en-US" sz="1500" dirty="0"/>
          </a:p>
        </p:txBody>
      </p:sp>
      <p:sp>
        <p:nvSpPr>
          <p:cNvPr id="17" name="Text 12"/>
          <p:cNvSpPr txBox="1"/>
          <p:nvPr/>
        </p:nvSpPr>
        <p:spPr>
          <a:xfrm>
            <a:off x="8302752" y="2633472"/>
            <a:ext cx="3063240" cy="82296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When an agent moves a ticket to another team, the correction is saved and used to teach the next version.</a:t>
            </a:r>
            <a:endParaRPr lang="en-US" sz="1200" dirty="0"/>
          </a:p>
        </p:txBody>
      </p:sp>
      <p:sp>
        <p:nvSpPr>
          <p:cNvPr id="18" name="Shape 13"/>
          <p:cNvSpPr/>
          <p:nvPr/>
        </p:nvSpPr>
        <p:spPr>
          <a:xfrm>
            <a:off x="548640" y="3749040"/>
            <a:ext cx="3520440" cy="2148840"/>
          </a:xfrm>
          <a:prstGeom prst="roundRect">
            <a:avLst>
              <a:gd name="adj" fmla="val 5106"/>
            </a:avLst>
          </a:prstGeom>
          <a:solidFill>
            <a:srgbClr val="F4F6FB"/>
          </a:solidFill>
          <a:ln w="12700">
            <a:solidFill>
              <a:srgbClr val="F4F6FB"/>
            </a:solidFill>
            <a:prstDash val="solid"/>
          </a:ln>
        </p:spPr>
      </p:sp>
      <p:sp>
        <p:nvSpPr>
          <p:cNvPr id="19" name="Shape 14"/>
          <p:cNvSpPr/>
          <p:nvPr/>
        </p:nvSpPr>
        <p:spPr>
          <a:xfrm>
            <a:off x="804672" y="4005072"/>
            <a:ext cx="566928" cy="566928"/>
          </a:xfrm>
          <a:prstGeom prst="ellipse">
            <a:avLst/>
          </a:prstGeom>
          <a:solidFill>
            <a:srgbClr val="EEF0FF"/>
          </a:solidFill>
          <a:ln w="12700">
            <a:solidFill>
              <a:srgbClr val="EEF0FF"/>
            </a:solidFill>
            <a:prstDash val="solid"/>
          </a:ln>
        </p:spPr>
      </p:sp>
      <p:pic>
        <p:nvPicPr>
          <p:cNvPr id="20" name="Image 3" descr="preencoded.png">    </p:cNvPr>
          <p:cNvPicPr>
            <a:picLocks noChangeAspect="1"/>
          </p:cNvPicPr>
          <p:nvPr/>
        </p:nvPicPr>
        <p:blipFill>
          <a:blip r:embed="rId4"/>
          <a:stretch>
            <a:fillRect/>
          </a:stretch>
        </p:blipFill>
        <p:spPr>
          <a:xfrm>
            <a:off x="940735" y="4141135"/>
            <a:ext cx="294803" cy="294803"/>
          </a:xfrm>
          <a:prstGeom prst="rect">
            <a:avLst/>
          </a:prstGeom>
        </p:spPr>
      </p:pic>
      <p:sp>
        <p:nvSpPr>
          <p:cNvPr id="21" name="Text 15"/>
          <p:cNvSpPr txBox="1"/>
          <p:nvPr/>
        </p:nvSpPr>
        <p:spPr>
          <a:xfrm>
            <a:off x="804672" y="4663440"/>
            <a:ext cx="3063240" cy="329184"/>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Checked automatically</a:t>
            </a:r>
            <a:endParaRPr lang="en-US" sz="1500" dirty="0"/>
          </a:p>
        </p:txBody>
      </p:sp>
      <p:sp>
        <p:nvSpPr>
          <p:cNvPr id="22" name="Text 16"/>
          <p:cNvSpPr txBox="1"/>
          <p:nvPr/>
        </p:nvSpPr>
        <p:spPr>
          <a:xfrm>
            <a:off x="804672" y="5010912"/>
            <a:ext cx="3063240" cy="82296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49 automated tests run on GitHub every time the code changes.</a:t>
            </a:r>
            <a:endParaRPr lang="en-US" sz="1200" dirty="0"/>
          </a:p>
        </p:txBody>
      </p:sp>
      <p:sp>
        <p:nvSpPr>
          <p:cNvPr id="23" name="Shape 17"/>
          <p:cNvSpPr/>
          <p:nvPr/>
        </p:nvSpPr>
        <p:spPr>
          <a:xfrm>
            <a:off x="4297680" y="3749040"/>
            <a:ext cx="3520440" cy="2148840"/>
          </a:xfrm>
          <a:prstGeom prst="roundRect">
            <a:avLst>
              <a:gd name="adj" fmla="val 5106"/>
            </a:avLst>
          </a:prstGeom>
          <a:solidFill>
            <a:srgbClr val="F4F6FB"/>
          </a:solidFill>
          <a:ln w="12700">
            <a:solidFill>
              <a:srgbClr val="F4F6FB"/>
            </a:solidFill>
            <a:prstDash val="solid"/>
          </a:ln>
        </p:spPr>
      </p:sp>
      <p:sp>
        <p:nvSpPr>
          <p:cNvPr id="24" name="Shape 18"/>
          <p:cNvSpPr/>
          <p:nvPr/>
        </p:nvSpPr>
        <p:spPr>
          <a:xfrm>
            <a:off x="4553712" y="4005072"/>
            <a:ext cx="566928" cy="566928"/>
          </a:xfrm>
          <a:prstGeom prst="ellipse">
            <a:avLst/>
          </a:prstGeom>
          <a:solidFill>
            <a:srgbClr val="EEF0FF"/>
          </a:solidFill>
          <a:ln w="12700">
            <a:solidFill>
              <a:srgbClr val="EEF0FF"/>
            </a:solidFill>
            <a:prstDash val="solid"/>
          </a:ln>
        </p:spPr>
      </p:sp>
      <p:pic>
        <p:nvPicPr>
          <p:cNvPr id="25" name="Image 4" descr="preencoded.png">    </p:cNvPr>
          <p:cNvPicPr>
            <a:picLocks noChangeAspect="1"/>
          </p:cNvPicPr>
          <p:nvPr/>
        </p:nvPicPr>
        <p:blipFill>
          <a:blip r:embed="rId5"/>
          <a:stretch>
            <a:fillRect/>
          </a:stretch>
        </p:blipFill>
        <p:spPr>
          <a:xfrm>
            <a:off x="4689775" y="4141135"/>
            <a:ext cx="294803" cy="294803"/>
          </a:xfrm>
          <a:prstGeom prst="rect">
            <a:avLst/>
          </a:prstGeom>
        </p:spPr>
      </p:pic>
      <p:sp>
        <p:nvSpPr>
          <p:cNvPr id="26" name="Text 19"/>
          <p:cNvSpPr txBox="1"/>
          <p:nvPr/>
        </p:nvSpPr>
        <p:spPr>
          <a:xfrm>
            <a:off x="4553712" y="4663440"/>
            <a:ext cx="3063240" cy="329184"/>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Connects to other systems</a:t>
            </a:r>
            <a:endParaRPr lang="en-US" sz="1500" dirty="0"/>
          </a:p>
        </p:txBody>
      </p:sp>
      <p:sp>
        <p:nvSpPr>
          <p:cNvPr id="27" name="Text 20"/>
          <p:cNvSpPr txBox="1"/>
          <p:nvPr/>
        </p:nvSpPr>
        <p:spPr>
          <a:xfrm>
            <a:off x="4553712" y="5010912"/>
            <a:ext cx="3063240" cy="82296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Other bank systems can send messages to it through a web API, with access keys and request limits.</a:t>
            </a:r>
            <a:endParaRPr lang="en-US" sz="1200" dirty="0"/>
          </a:p>
        </p:txBody>
      </p:sp>
      <p:sp>
        <p:nvSpPr>
          <p:cNvPr id="28" name="Shape 21"/>
          <p:cNvSpPr/>
          <p:nvPr/>
        </p:nvSpPr>
        <p:spPr>
          <a:xfrm>
            <a:off x="8046720" y="3749040"/>
            <a:ext cx="3520440" cy="2148840"/>
          </a:xfrm>
          <a:prstGeom prst="roundRect">
            <a:avLst>
              <a:gd name="adj" fmla="val 5106"/>
            </a:avLst>
          </a:prstGeom>
          <a:solidFill>
            <a:srgbClr val="F4F6FB"/>
          </a:solidFill>
          <a:ln w="12700">
            <a:solidFill>
              <a:srgbClr val="F4F6FB"/>
            </a:solidFill>
            <a:prstDash val="solid"/>
          </a:ln>
        </p:spPr>
      </p:sp>
      <p:sp>
        <p:nvSpPr>
          <p:cNvPr id="29" name="Shape 22"/>
          <p:cNvSpPr/>
          <p:nvPr/>
        </p:nvSpPr>
        <p:spPr>
          <a:xfrm>
            <a:off x="8302752" y="4005072"/>
            <a:ext cx="566928" cy="566928"/>
          </a:xfrm>
          <a:prstGeom prst="ellipse">
            <a:avLst/>
          </a:prstGeom>
          <a:solidFill>
            <a:srgbClr val="EEF0FF"/>
          </a:solidFill>
          <a:ln w="12700">
            <a:solidFill>
              <a:srgbClr val="EEF0FF"/>
            </a:solidFill>
            <a:prstDash val="solid"/>
          </a:ln>
        </p:spPr>
      </p:sp>
      <p:pic>
        <p:nvPicPr>
          <p:cNvPr id="30" name="Image 5" descr="preencoded.png">    </p:cNvPr>
          <p:cNvPicPr>
            <a:picLocks noChangeAspect="1"/>
          </p:cNvPicPr>
          <p:nvPr/>
        </p:nvPicPr>
        <p:blipFill>
          <a:blip r:embed="rId6"/>
          <a:stretch>
            <a:fillRect/>
          </a:stretch>
        </p:blipFill>
        <p:spPr>
          <a:xfrm>
            <a:off x="8438815" y="4141135"/>
            <a:ext cx="294803" cy="294803"/>
          </a:xfrm>
          <a:prstGeom prst="rect">
            <a:avLst/>
          </a:prstGeom>
        </p:spPr>
      </p:pic>
      <p:sp>
        <p:nvSpPr>
          <p:cNvPr id="31" name="Text 23"/>
          <p:cNvSpPr txBox="1"/>
          <p:nvPr/>
        </p:nvSpPr>
        <p:spPr>
          <a:xfrm>
            <a:off x="8302752" y="4663440"/>
            <a:ext cx="3063240" cy="329184"/>
          </a:xfrm>
          <a:prstGeom prst="rect">
            <a:avLst/>
          </a:prstGeom>
          <a:noFill/>
          <a:ln/>
        </p:spPr>
        <p:txBody>
          <a:bodyPr wrap="square" lIns="0" tIns="0" rIns="0" bIns="0" rtlCol="0" anchor="t"/>
          <a:lstStyle/>
          <a:p>
            <a:pPr indent="0" marL="0">
              <a:buNone/>
            </a:pPr>
            <a:r>
              <a:rPr lang="en-US" sz="1500" b="1" dirty="0">
                <a:solidFill>
                  <a:srgbClr val="0E1726"/>
                </a:solidFill>
                <a:latin typeface="Calibri" pitchFamily="34" charset="0"/>
                <a:ea typeface="Calibri" pitchFamily="34" charset="-122"/>
                <a:cs typeface="Calibri" pitchFamily="34" charset="-120"/>
              </a:rPr>
              <a:t>Easy to run anywhere</a:t>
            </a:r>
            <a:endParaRPr lang="en-US" sz="1500" dirty="0"/>
          </a:p>
        </p:txBody>
      </p:sp>
      <p:sp>
        <p:nvSpPr>
          <p:cNvPr id="32" name="Text 24"/>
          <p:cNvSpPr txBox="1"/>
          <p:nvPr/>
        </p:nvSpPr>
        <p:spPr>
          <a:xfrm>
            <a:off x="8302752" y="5010912"/>
            <a:ext cx="3063240" cy="82296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Packaged with Docker; works in light and dark mode and on phones.</a:t>
            </a:r>
            <a:endParaRPr lang="en-US" sz="12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Honest limitations</a:t>
            </a:r>
            <a:endParaRPr lang="en-US" sz="3000" dirty="0"/>
          </a:p>
        </p:txBody>
      </p:sp>
      <p:sp>
        <p:nvSpPr>
          <p:cNvPr id="3" name="Shape 1"/>
          <p:cNvSpPr/>
          <p:nvPr/>
        </p:nvSpPr>
        <p:spPr>
          <a:xfrm>
            <a:off x="548640" y="1371600"/>
            <a:ext cx="5394960" cy="2011680"/>
          </a:xfrm>
          <a:prstGeom prst="roundRect">
            <a:avLst>
              <a:gd name="adj" fmla="val 5455"/>
            </a:avLst>
          </a:prstGeom>
          <a:solidFill>
            <a:srgbClr val="F4F6FB"/>
          </a:solidFill>
          <a:ln w="12700">
            <a:solidFill>
              <a:srgbClr val="F4F6FB"/>
            </a:solidFill>
            <a:prstDash val="solid"/>
          </a:ln>
        </p:spPr>
      </p:sp>
      <p:sp>
        <p:nvSpPr>
          <p:cNvPr id="4" name="Shape 2"/>
          <p:cNvSpPr/>
          <p:nvPr/>
        </p:nvSpPr>
        <p:spPr>
          <a:xfrm>
            <a:off x="822960" y="1645920"/>
            <a:ext cx="566928" cy="566928"/>
          </a:xfrm>
          <a:prstGeom prst="ellipse">
            <a:avLst/>
          </a:prstGeom>
          <a:solidFill>
            <a:srgbClr val="FFF7ED"/>
          </a:solidFill>
          <a:ln w="12700">
            <a:solidFill>
              <a:srgbClr val="FFF7ED"/>
            </a:solidFill>
            <a:prstDash val="solid"/>
          </a:ln>
        </p:spPr>
      </p:sp>
      <p:pic>
        <p:nvPicPr>
          <p:cNvPr id="5" name="Image 0" descr="preencoded.png">    </p:cNvPr>
          <p:cNvPicPr>
            <a:picLocks noChangeAspect="1"/>
          </p:cNvPicPr>
          <p:nvPr/>
        </p:nvPicPr>
        <p:blipFill>
          <a:blip r:embed="rId1"/>
          <a:stretch>
            <a:fillRect/>
          </a:stretch>
        </p:blipFill>
        <p:spPr>
          <a:xfrm>
            <a:off x="959023" y="1781983"/>
            <a:ext cx="294803" cy="294803"/>
          </a:xfrm>
          <a:prstGeom prst="rect">
            <a:avLst/>
          </a:prstGeom>
        </p:spPr>
      </p:pic>
      <p:sp>
        <p:nvSpPr>
          <p:cNvPr id="6" name="Text 3"/>
          <p:cNvSpPr txBox="1"/>
          <p:nvPr/>
        </p:nvSpPr>
        <p:spPr>
          <a:xfrm>
            <a:off x="1600200" y="1673352"/>
            <a:ext cx="4114800" cy="36576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Loan messages are generated</a:t>
            </a:r>
            <a:endParaRPr lang="en-US" sz="1600" dirty="0"/>
          </a:p>
        </p:txBody>
      </p:sp>
      <p:sp>
        <p:nvSpPr>
          <p:cNvPr id="7" name="Text 4"/>
          <p:cNvSpPr txBox="1"/>
          <p:nvPr/>
        </p:nvSpPr>
        <p:spPr>
          <a:xfrm>
            <a:off x="1600200" y="2084832"/>
            <a:ext cx="416052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Banking77 has no loan questions, so our loan data comes from 60 templates. Real loan messages would be messier.</a:t>
            </a:r>
            <a:endParaRPr lang="en-US" sz="1300" dirty="0"/>
          </a:p>
        </p:txBody>
      </p:sp>
      <p:sp>
        <p:nvSpPr>
          <p:cNvPr id="8" name="Shape 5"/>
          <p:cNvSpPr/>
          <p:nvPr/>
        </p:nvSpPr>
        <p:spPr>
          <a:xfrm>
            <a:off x="6172200" y="1371600"/>
            <a:ext cx="5394960" cy="2011680"/>
          </a:xfrm>
          <a:prstGeom prst="roundRect">
            <a:avLst>
              <a:gd name="adj" fmla="val 5455"/>
            </a:avLst>
          </a:prstGeom>
          <a:solidFill>
            <a:srgbClr val="F4F6FB"/>
          </a:solidFill>
          <a:ln w="12700">
            <a:solidFill>
              <a:srgbClr val="F4F6FB"/>
            </a:solidFill>
            <a:prstDash val="solid"/>
          </a:ln>
        </p:spPr>
      </p:sp>
      <p:sp>
        <p:nvSpPr>
          <p:cNvPr id="9" name="Shape 6"/>
          <p:cNvSpPr/>
          <p:nvPr/>
        </p:nvSpPr>
        <p:spPr>
          <a:xfrm>
            <a:off x="6446520" y="1645920"/>
            <a:ext cx="566928" cy="566928"/>
          </a:xfrm>
          <a:prstGeom prst="ellipse">
            <a:avLst/>
          </a:prstGeom>
          <a:solidFill>
            <a:srgbClr val="FFF7ED"/>
          </a:solidFill>
          <a:ln w="12700">
            <a:solidFill>
              <a:srgbClr val="FFF7ED"/>
            </a:solidFill>
            <a:prstDash val="solid"/>
          </a:ln>
        </p:spPr>
      </p:sp>
      <p:pic>
        <p:nvPicPr>
          <p:cNvPr id="10" name="Image 1" descr="preencoded.png">    </p:cNvPr>
          <p:cNvPicPr>
            <a:picLocks noChangeAspect="1"/>
          </p:cNvPicPr>
          <p:nvPr/>
        </p:nvPicPr>
        <p:blipFill>
          <a:blip r:embed="rId2"/>
          <a:stretch>
            <a:fillRect/>
          </a:stretch>
        </p:blipFill>
        <p:spPr>
          <a:xfrm>
            <a:off x="6582583" y="1781983"/>
            <a:ext cx="294803" cy="294803"/>
          </a:xfrm>
          <a:prstGeom prst="rect">
            <a:avLst/>
          </a:prstGeom>
        </p:spPr>
      </p:pic>
      <p:sp>
        <p:nvSpPr>
          <p:cNvPr id="11" name="Text 7"/>
          <p:cNvSpPr txBox="1"/>
          <p:nvPr/>
        </p:nvSpPr>
        <p:spPr>
          <a:xfrm>
            <a:off x="7223760" y="1673352"/>
            <a:ext cx="4114800" cy="36576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English only</a:t>
            </a:r>
            <a:endParaRPr lang="en-US" sz="1600" dirty="0"/>
          </a:p>
        </p:txBody>
      </p:sp>
      <p:sp>
        <p:nvSpPr>
          <p:cNvPr id="12" name="Text 8"/>
          <p:cNvSpPr txBox="1"/>
          <p:nvPr/>
        </p:nvSpPr>
        <p:spPr>
          <a:xfrm>
            <a:off x="7223760" y="2084832"/>
            <a:ext cx="416052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The system was trained only on English messages.</a:t>
            </a:r>
            <a:endParaRPr lang="en-US" sz="1300" dirty="0"/>
          </a:p>
        </p:txBody>
      </p:sp>
      <p:sp>
        <p:nvSpPr>
          <p:cNvPr id="13" name="Shape 9"/>
          <p:cNvSpPr/>
          <p:nvPr/>
        </p:nvSpPr>
        <p:spPr>
          <a:xfrm>
            <a:off x="548640" y="3657600"/>
            <a:ext cx="5394960" cy="2011680"/>
          </a:xfrm>
          <a:prstGeom prst="roundRect">
            <a:avLst>
              <a:gd name="adj" fmla="val 5455"/>
            </a:avLst>
          </a:prstGeom>
          <a:solidFill>
            <a:srgbClr val="F4F6FB"/>
          </a:solidFill>
          <a:ln w="12700">
            <a:solidFill>
              <a:srgbClr val="F4F6FB"/>
            </a:solidFill>
            <a:prstDash val="solid"/>
          </a:ln>
        </p:spPr>
      </p:sp>
      <p:sp>
        <p:nvSpPr>
          <p:cNvPr id="14" name="Shape 10"/>
          <p:cNvSpPr/>
          <p:nvPr/>
        </p:nvSpPr>
        <p:spPr>
          <a:xfrm>
            <a:off x="822960" y="3931920"/>
            <a:ext cx="566928" cy="566928"/>
          </a:xfrm>
          <a:prstGeom prst="ellipse">
            <a:avLst/>
          </a:prstGeom>
          <a:solidFill>
            <a:srgbClr val="FFF7ED"/>
          </a:solidFill>
          <a:ln w="12700">
            <a:solidFill>
              <a:srgbClr val="FFF7ED"/>
            </a:solidFill>
            <a:prstDash val="solid"/>
          </a:ln>
        </p:spPr>
      </p:sp>
      <p:pic>
        <p:nvPicPr>
          <p:cNvPr id="15" name="Image 2" descr="preencoded.png">    </p:cNvPr>
          <p:cNvPicPr>
            <a:picLocks noChangeAspect="1"/>
          </p:cNvPicPr>
          <p:nvPr/>
        </p:nvPicPr>
        <p:blipFill>
          <a:blip r:embed="rId3"/>
          <a:stretch>
            <a:fillRect/>
          </a:stretch>
        </p:blipFill>
        <p:spPr>
          <a:xfrm>
            <a:off x="959023" y="4067983"/>
            <a:ext cx="294803" cy="294803"/>
          </a:xfrm>
          <a:prstGeom prst="rect">
            <a:avLst/>
          </a:prstGeom>
        </p:spPr>
      </p:pic>
      <p:sp>
        <p:nvSpPr>
          <p:cNvPr id="16" name="Text 11"/>
          <p:cNvSpPr txBox="1"/>
          <p:nvPr/>
        </p:nvSpPr>
        <p:spPr>
          <a:xfrm>
            <a:off x="1600200" y="3959352"/>
            <a:ext cx="4114800" cy="36576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One main category per message</a:t>
            </a:r>
            <a:endParaRPr lang="en-US" sz="1600" dirty="0"/>
          </a:p>
        </p:txBody>
      </p:sp>
      <p:sp>
        <p:nvSpPr>
          <p:cNvPr id="17" name="Text 12"/>
          <p:cNvSpPr txBox="1"/>
          <p:nvPr/>
        </p:nvSpPr>
        <p:spPr>
          <a:xfrm>
            <a:off x="1600200" y="4370832"/>
            <a:ext cx="416052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Mixed messages get one main category; a second one is only shown as extra information.</a:t>
            </a:r>
            <a:endParaRPr lang="en-US" sz="1300" dirty="0"/>
          </a:p>
        </p:txBody>
      </p:sp>
      <p:sp>
        <p:nvSpPr>
          <p:cNvPr id="18" name="Shape 13"/>
          <p:cNvSpPr/>
          <p:nvPr/>
        </p:nvSpPr>
        <p:spPr>
          <a:xfrm>
            <a:off x="6172200" y="3657600"/>
            <a:ext cx="5394960" cy="2011680"/>
          </a:xfrm>
          <a:prstGeom prst="roundRect">
            <a:avLst>
              <a:gd name="adj" fmla="val 5455"/>
            </a:avLst>
          </a:prstGeom>
          <a:solidFill>
            <a:srgbClr val="F4F6FB"/>
          </a:solidFill>
          <a:ln w="12700">
            <a:solidFill>
              <a:srgbClr val="F4F6FB"/>
            </a:solidFill>
            <a:prstDash val="solid"/>
          </a:ln>
        </p:spPr>
      </p:sp>
      <p:sp>
        <p:nvSpPr>
          <p:cNvPr id="19" name="Shape 14"/>
          <p:cNvSpPr/>
          <p:nvPr/>
        </p:nvSpPr>
        <p:spPr>
          <a:xfrm>
            <a:off x="6446520" y="3931920"/>
            <a:ext cx="566928" cy="566928"/>
          </a:xfrm>
          <a:prstGeom prst="ellipse">
            <a:avLst/>
          </a:prstGeom>
          <a:solidFill>
            <a:srgbClr val="FFF7ED"/>
          </a:solidFill>
          <a:ln w="12700">
            <a:solidFill>
              <a:srgbClr val="FFF7ED"/>
            </a:solidFill>
            <a:prstDash val="solid"/>
          </a:ln>
        </p:spPr>
      </p:sp>
      <p:pic>
        <p:nvPicPr>
          <p:cNvPr id="20" name="Image 3" descr="preencoded.png">    </p:cNvPr>
          <p:cNvPicPr>
            <a:picLocks noChangeAspect="1"/>
          </p:cNvPicPr>
          <p:nvPr/>
        </p:nvPicPr>
        <p:blipFill>
          <a:blip r:embed="rId4"/>
          <a:stretch>
            <a:fillRect/>
          </a:stretch>
        </p:blipFill>
        <p:spPr>
          <a:xfrm>
            <a:off x="6582583" y="4067983"/>
            <a:ext cx="294803" cy="294803"/>
          </a:xfrm>
          <a:prstGeom prst="rect">
            <a:avLst/>
          </a:prstGeom>
        </p:spPr>
      </p:pic>
      <p:sp>
        <p:nvSpPr>
          <p:cNvPr id="21" name="Text 15"/>
          <p:cNvSpPr txBox="1"/>
          <p:nvPr/>
        </p:nvSpPr>
        <p:spPr>
          <a:xfrm>
            <a:off x="7223760" y="3959352"/>
            <a:ext cx="4114800" cy="365760"/>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It learns patterns, not meaning</a:t>
            </a:r>
            <a:endParaRPr lang="en-US" sz="1600" dirty="0"/>
          </a:p>
        </p:txBody>
      </p:sp>
      <p:sp>
        <p:nvSpPr>
          <p:cNvPr id="22" name="Text 16"/>
          <p:cNvSpPr txBox="1"/>
          <p:nvPr/>
        </p:nvSpPr>
        <p:spPr>
          <a:xfrm>
            <a:off x="7223760" y="4370832"/>
            <a:ext cx="416052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On its own it missed “skimmed”, “cloned” and “scam”. The fraud rule now catches these, but a smarter model is the real fix.</a:t>
            </a:r>
            <a:endParaRPr lang="en-US" sz="13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000" b="1" dirty="0">
                <a:solidFill>
                  <a:srgbClr val="0E1726"/>
                </a:solidFill>
                <a:latin typeface="Arial" pitchFamily="34" charset="0"/>
                <a:ea typeface="Arial" pitchFamily="34" charset="-122"/>
                <a:cs typeface="Arial" pitchFamily="34" charset="-120"/>
              </a:rPr>
              <a:t>Phase 2: what we will build next</a:t>
            </a:r>
            <a:endParaRPr lang="en-US" sz="3000" dirty="0"/>
          </a:p>
        </p:txBody>
      </p:sp>
      <p:sp>
        <p:nvSpPr>
          <p:cNvPr id="3" name="Shape 1"/>
          <p:cNvSpPr/>
          <p:nvPr/>
        </p:nvSpPr>
        <p:spPr>
          <a:xfrm>
            <a:off x="548640" y="1325880"/>
            <a:ext cx="5394960" cy="1417320"/>
          </a:xfrm>
          <a:prstGeom prst="roundRect">
            <a:avLst>
              <a:gd name="adj" fmla="val 7742"/>
            </a:avLst>
          </a:prstGeom>
          <a:solidFill>
            <a:srgbClr val="F4F6FB"/>
          </a:solidFill>
          <a:ln w="12700">
            <a:solidFill>
              <a:srgbClr val="F4F6FB"/>
            </a:solidFill>
            <a:prstDash val="solid"/>
          </a:ln>
        </p:spPr>
      </p:sp>
      <p:sp>
        <p:nvSpPr>
          <p:cNvPr id="4" name="Shape 2"/>
          <p:cNvSpPr/>
          <p:nvPr/>
        </p:nvSpPr>
        <p:spPr>
          <a:xfrm>
            <a:off x="804672" y="1600200"/>
            <a:ext cx="566928" cy="566928"/>
          </a:xfrm>
          <a:prstGeom prst="ellipse">
            <a:avLst/>
          </a:prstGeom>
          <a:solidFill>
            <a:srgbClr val="4F46E5"/>
          </a:solidFill>
          <a:ln w="12700">
            <a:solidFill>
              <a:srgbClr val="4F46E5"/>
            </a:solidFill>
            <a:prstDash val="solid"/>
          </a:ln>
        </p:spPr>
      </p:sp>
      <p:sp>
        <p:nvSpPr>
          <p:cNvPr id="5" name="Text 3"/>
          <p:cNvSpPr txBox="1"/>
          <p:nvPr/>
        </p:nvSpPr>
        <p:spPr>
          <a:xfrm>
            <a:off x="804672" y="16002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72768" y="1527048"/>
            <a:ext cx="3017520" cy="347472"/>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A smarter language model</a:t>
            </a:r>
            <a:endParaRPr lang="en-US" sz="1600" dirty="0"/>
          </a:p>
        </p:txBody>
      </p:sp>
      <p:sp>
        <p:nvSpPr>
          <p:cNvPr id="7" name="Text 5"/>
          <p:cNvSpPr txBox="1"/>
          <p:nvPr/>
        </p:nvSpPr>
        <p:spPr>
          <a:xfrm>
            <a:off x="4572000" y="1545336"/>
            <a:ext cx="1188720" cy="292608"/>
          </a:xfrm>
          <a:prstGeom prst="rect">
            <a:avLst/>
          </a:prstGeom>
          <a:noFill/>
          <a:ln/>
        </p:spPr>
        <p:txBody>
          <a:bodyPr wrap="square" lIns="0" tIns="0" rIns="0" bIns="0" rtlCol="0" anchor="t"/>
          <a:lstStyle/>
          <a:p>
            <a:pPr algn="r" indent="0" marL="0">
              <a:buNone/>
            </a:pPr>
            <a:r>
              <a:rPr lang="en-US" sz="1200" b="1" dirty="0">
                <a:solidFill>
                  <a:srgbClr val="4F46E5"/>
                </a:solidFill>
                <a:latin typeface="Calibri" pitchFamily="34" charset="0"/>
                <a:ea typeface="Calibri" pitchFamily="34" charset="-122"/>
                <a:cs typeface="Calibri" pitchFamily="34" charset="-120"/>
              </a:rPr>
              <a:t>1–2 days</a:t>
            </a:r>
            <a:endParaRPr lang="en-US" sz="1200" dirty="0"/>
          </a:p>
        </p:txBody>
      </p:sp>
      <p:sp>
        <p:nvSpPr>
          <p:cNvPr id="8" name="Text 6"/>
          <p:cNvSpPr txBox="1"/>
          <p:nvPr/>
        </p:nvSpPr>
        <p:spPr>
          <a:xfrm>
            <a:off x="1572768" y="1892808"/>
            <a:ext cx="420624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A model that understands meaning (fine-tuned DistilBERT), competing through the same release check</a:t>
            </a:r>
            <a:endParaRPr lang="en-US" sz="1200" dirty="0"/>
          </a:p>
        </p:txBody>
      </p:sp>
      <p:sp>
        <p:nvSpPr>
          <p:cNvPr id="9" name="Shape 7"/>
          <p:cNvSpPr/>
          <p:nvPr/>
        </p:nvSpPr>
        <p:spPr>
          <a:xfrm>
            <a:off x="6172200" y="1325880"/>
            <a:ext cx="5394960" cy="1417320"/>
          </a:xfrm>
          <a:prstGeom prst="roundRect">
            <a:avLst>
              <a:gd name="adj" fmla="val 7742"/>
            </a:avLst>
          </a:prstGeom>
          <a:solidFill>
            <a:srgbClr val="F4F6FB"/>
          </a:solidFill>
          <a:ln w="12700">
            <a:solidFill>
              <a:srgbClr val="F4F6FB"/>
            </a:solidFill>
            <a:prstDash val="solid"/>
          </a:ln>
        </p:spPr>
      </p:sp>
      <p:sp>
        <p:nvSpPr>
          <p:cNvPr id="10" name="Shape 8"/>
          <p:cNvSpPr/>
          <p:nvPr/>
        </p:nvSpPr>
        <p:spPr>
          <a:xfrm>
            <a:off x="6428232" y="1600200"/>
            <a:ext cx="566928" cy="566928"/>
          </a:xfrm>
          <a:prstGeom prst="ellipse">
            <a:avLst/>
          </a:prstGeom>
          <a:solidFill>
            <a:srgbClr val="4F46E5"/>
          </a:solidFill>
          <a:ln w="12700">
            <a:solidFill>
              <a:srgbClr val="4F46E5"/>
            </a:solidFill>
            <a:prstDash val="solid"/>
          </a:ln>
        </p:spPr>
      </p:sp>
      <p:sp>
        <p:nvSpPr>
          <p:cNvPr id="11" name="Text 9"/>
          <p:cNvSpPr txBox="1"/>
          <p:nvPr/>
        </p:nvSpPr>
        <p:spPr>
          <a:xfrm>
            <a:off x="6428232" y="16002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7196328" y="1527048"/>
            <a:ext cx="3017520" cy="347472"/>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Change detection</a:t>
            </a:r>
            <a:endParaRPr lang="en-US" sz="1600" dirty="0"/>
          </a:p>
        </p:txBody>
      </p:sp>
      <p:sp>
        <p:nvSpPr>
          <p:cNvPr id="13" name="Text 11"/>
          <p:cNvSpPr txBox="1"/>
          <p:nvPr/>
        </p:nvSpPr>
        <p:spPr>
          <a:xfrm>
            <a:off x="10195560" y="1545336"/>
            <a:ext cx="1188720" cy="292608"/>
          </a:xfrm>
          <a:prstGeom prst="rect">
            <a:avLst/>
          </a:prstGeom>
          <a:noFill/>
          <a:ln/>
        </p:spPr>
        <p:txBody>
          <a:bodyPr wrap="square" lIns="0" tIns="0" rIns="0" bIns="0" rtlCol="0" anchor="t"/>
          <a:lstStyle/>
          <a:p>
            <a:pPr algn="r" indent="0" marL="0">
              <a:buNone/>
            </a:pPr>
            <a:r>
              <a:rPr lang="en-US" sz="1200" b="1" dirty="0">
                <a:solidFill>
                  <a:srgbClr val="4F46E5"/>
                </a:solidFill>
                <a:latin typeface="Calibri" pitchFamily="34" charset="0"/>
                <a:ea typeface="Calibri" pitchFamily="34" charset="-122"/>
                <a:cs typeface="Calibri" pitchFamily="34" charset="-120"/>
              </a:rPr>
              <a:t>1 day</a:t>
            </a:r>
            <a:endParaRPr lang="en-US" sz="1200" dirty="0"/>
          </a:p>
        </p:txBody>
      </p:sp>
      <p:sp>
        <p:nvSpPr>
          <p:cNvPr id="14" name="Text 12"/>
          <p:cNvSpPr txBox="1"/>
          <p:nvPr/>
        </p:nvSpPr>
        <p:spPr>
          <a:xfrm>
            <a:off x="7196328" y="1892808"/>
            <a:ext cx="420624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Warn us when customers start writing differently, e.g. a new type of scam</a:t>
            </a:r>
            <a:endParaRPr lang="en-US" sz="1200" dirty="0"/>
          </a:p>
        </p:txBody>
      </p:sp>
      <p:sp>
        <p:nvSpPr>
          <p:cNvPr id="15" name="Shape 13"/>
          <p:cNvSpPr/>
          <p:nvPr/>
        </p:nvSpPr>
        <p:spPr>
          <a:xfrm>
            <a:off x="548640" y="2926080"/>
            <a:ext cx="5394960" cy="1417320"/>
          </a:xfrm>
          <a:prstGeom prst="roundRect">
            <a:avLst>
              <a:gd name="adj" fmla="val 7742"/>
            </a:avLst>
          </a:prstGeom>
          <a:solidFill>
            <a:srgbClr val="F4F6FB"/>
          </a:solidFill>
          <a:ln w="12700">
            <a:solidFill>
              <a:srgbClr val="F4F6FB"/>
            </a:solidFill>
            <a:prstDash val="solid"/>
          </a:ln>
        </p:spPr>
      </p:sp>
      <p:sp>
        <p:nvSpPr>
          <p:cNvPr id="16" name="Shape 14"/>
          <p:cNvSpPr/>
          <p:nvPr/>
        </p:nvSpPr>
        <p:spPr>
          <a:xfrm>
            <a:off x="804672" y="3200400"/>
            <a:ext cx="566928" cy="566928"/>
          </a:xfrm>
          <a:prstGeom prst="ellipse">
            <a:avLst/>
          </a:prstGeom>
          <a:solidFill>
            <a:srgbClr val="4F46E5"/>
          </a:solidFill>
          <a:ln w="12700">
            <a:solidFill>
              <a:srgbClr val="4F46E5"/>
            </a:solidFill>
            <a:prstDash val="solid"/>
          </a:ln>
        </p:spPr>
      </p:sp>
      <p:sp>
        <p:nvSpPr>
          <p:cNvPr id="17" name="Text 15"/>
          <p:cNvSpPr txBox="1"/>
          <p:nvPr/>
        </p:nvSpPr>
        <p:spPr>
          <a:xfrm>
            <a:off x="804672" y="32004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1572768" y="3127248"/>
            <a:ext cx="3017520" cy="347472"/>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Instant alerts</a:t>
            </a:r>
            <a:endParaRPr lang="en-US" sz="1600" dirty="0"/>
          </a:p>
        </p:txBody>
      </p:sp>
      <p:sp>
        <p:nvSpPr>
          <p:cNvPr id="19" name="Text 17"/>
          <p:cNvSpPr txBox="1"/>
          <p:nvPr/>
        </p:nvSpPr>
        <p:spPr>
          <a:xfrm>
            <a:off x="4572000" y="3145536"/>
            <a:ext cx="1188720" cy="292608"/>
          </a:xfrm>
          <a:prstGeom prst="rect">
            <a:avLst/>
          </a:prstGeom>
          <a:noFill/>
          <a:ln/>
        </p:spPr>
        <p:txBody>
          <a:bodyPr wrap="square" lIns="0" tIns="0" rIns="0" bIns="0" rtlCol="0" anchor="t"/>
          <a:lstStyle/>
          <a:p>
            <a:pPr algn="r" indent="0" marL="0">
              <a:buNone/>
            </a:pPr>
            <a:r>
              <a:rPr lang="en-US" sz="1200" b="1" dirty="0">
                <a:solidFill>
                  <a:srgbClr val="4F46E5"/>
                </a:solidFill>
                <a:latin typeface="Calibri" pitchFamily="34" charset="0"/>
                <a:ea typeface="Calibri" pitchFamily="34" charset="-122"/>
                <a:cs typeface="Calibri" pitchFamily="34" charset="-120"/>
              </a:rPr>
              <a:t>Half a day</a:t>
            </a:r>
            <a:endParaRPr lang="en-US" sz="1200" dirty="0"/>
          </a:p>
        </p:txBody>
      </p:sp>
      <p:sp>
        <p:nvSpPr>
          <p:cNvPr id="20" name="Text 18"/>
          <p:cNvSpPr txBox="1"/>
          <p:nvPr/>
        </p:nvSpPr>
        <p:spPr>
          <a:xfrm>
            <a:off x="1572768" y="3493008"/>
            <a:ext cx="420624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Slack or email alerts the moment an urgent fraud ticket arrives</a:t>
            </a:r>
            <a:endParaRPr lang="en-US" sz="1200" dirty="0"/>
          </a:p>
        </p:txBody>
      </p:sp>
      <p:sp>
        <p:nvSpPr>
          <p:cNvPr id="21" name="Shape 19"/>
          <p:cNvSpPr/>
          <p:nvPr/>
        </p:nvSpPr>
        <p:spPr>
          <a:xfrm>
            <a:off x="6172200" y="2926080"/>
            <a:ext cx="5394960" cy="1417320"/>
          </a:xfrm>
          <a:prstGeom prst="roundRect">
            <a:avLst>
              <a:gd name="adj" fmla="val 7742"/>
            </a:avLst>
          </a:prstGeom>
          <a:solidFill>
            <a:srgbClr val="F4F6FB"/>
          </a:solidFill>
          <a:ln w="12700">
            <a:solidFill>
              <a:srgbClr val="F4F6FB"/>
            </a:solidFill>
            <a:prstDash val="solid"/>
          </a:ln>
        </p:spPr>
      </p:sp>
      <p:sp>
        <p:nvSpPr>
          <p:cNvPr id="22" name="Shape 20"/>
          <p:cNvSpPr/>
          <p:nvPr/>
        </p:nvSpPr>
        <p:spPr>
          <a:xfrm>
            <a:off x="6428232" y="3200400"/>
            <a:ext cx="566928" cy="566928"/>
          </a:xfrm>
          <a:prstGeom prst="ellipse">
            <a:avLst/>
          </a:prstGeom>
          <a:solidFill>
            <a:srgbClr val="4F46E5"/>
          </a:solidFill>
          <a:ln w="12700">
            <a:solidFill>
              <a:srgbClr val="4F46E5"/>
            </a:solidFill>
            <a:prstDash val="solid"/>
          </a:ln>
        </p:spPr>
      </p:sp>
      <p:sp>
        <p:nvSpPr>
          <p:cNvPr id="23" name="Text 21"/>
          <p:cNvSpPr txBox="1"/>
          <p:nvPr/>
        </p:nvSpPr>
        <p:spPr>
          <a:xfrm>
            <a:off x="6428232" y="32004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22"/>
          <p:cNvSpPr txBox="1"/>
          <p:nvPr/>
        </p:nvSpPr>
        <p:spPr>
          <a:xfrm>
            <a:off x="7196328" y="3127248"/>
            <a:ext cx="3017520" cy="347472"/>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Production database</a:t>
            </a:r>
            <a:endParaRPr lang="en-US" sz="1600" dirty="0"/>
          </a:p>
        </p:txBody>
      </p:sp>
      <p:sp>
        <p:nvSpPr>
          <p:cNvPr id="25" name="Text 23"/>
          <p:cNvSpPr txBox="1"/>
          <p:nvPr/>
        </p:nvSpPr>
        <p:spPr>
          <a:xfrm>
            <a:off x="10195560" y="3145536"/>
            <a:ext cx="1188720" cy="292608"/>
          </a:xfrm>
          <a:prstGeom prst="rect">
            <a:avLst/>
          </a:prstGeom>
          <a:noFill/>
          <a:ln/>
        </p:spPr>
        <p:txBody>
          <a:bodyPr wrap="square" lIns="0" tIns="0" rIns="0" bIns="0" rtlCol="0" anchor="t"/>
          <a:lstStyle/>
          <a:p>
            <a:pPr algn="r" indent="0" marL="0">
              <a:buNone/>
            </a:pPr>
            <a:r>
              <a:rPr lang="en-US" sz="1200" b="1" dirty="0">
                <a:solidFill>
                  <a:srgbClr val="4F46E5"/>
                </a:solidFill>
                <a:latin typeface="Calibri" pitchFamily="34" charset="0"/>
                <a:ea typeface="Calibri" pitchFamily="34" charset="-122"/>
                <a:cs typeface="Calibri" pitchFamily="34" charset="-120"/>
              </a:rPr>
              <a:t>Half a day</a:t>
            </a:r>
            <a:endParaRPr lang="en-US" sz="1200" dirty="0"/>
          </a:p>
        </p:txBody>
      </p:sp>
      <p:sp>
        <p:nvSpPr>
          <p:cNvPr id="26" name="Text 24"/>
          <p:cNvSpPr txBox="1"/>
          <p:nvPr/>
        </p:nvSpPr>
        <p:spPr>
          <a:xfrm>
            <a:off x="7196328" y="3493008"/>
            <a:ext cx="420624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Move to Postgres, with safe upgrades of its structure</a:t>
            </a:r>
            <a:endParaRPr lang="en-US" sz="1200" dirty="0"/>
          </a:p>
        </p:txBody>
      </p:sp>
      <p:sp>
        <p:nvSpPr>
          <p:cNvPr id="27" name="Shape 25"/>
          <p:cNvSpPr/>
          <p:nvPr/>
        </p:nvSpPr>
        <p:spPr>
          <a:xfrm>
            <a:off x="548640" y="4526280"/>
            <a:ext cx="5394960" cy="1417320"/>
          </a:xfrm>
          <a:prstGeom prst="roundRect">
            <a:avLst>
              <a:gd name="adj" fmla="val 7742"/>
            </a:avLst>
          </a:prstGeom>
          <a:solidFill>
            <a:srgbClr val="F4F6FB"/>
          </a:solidFill>
          <a:ln w="12700">
            <a:solidFill>
              <a:srgbClr val="F4F6FB"/>
            </a:solidFill>
            <a:prstDash val="solid"/>
          </a:ln>
        </p:spPr>
      </p:sp>
      <p:sp>
        <p:nvSpPr>
          <p:cNvPr id="28" name="Shape 26"/>
          <p:cNvSpPr/>
          <p:nvPr/>
        </p:nvSpPr>
        <p:spPr>
          <a:xfrm>
            <a:off x="804672" y="4800600"/>
            <a:ext cx="566928" cy="566928"/>
          </a:xfrm>
          <a:prstGeom prst="ellipse">
            <a:avLst/>
          </a:prstGeom>
          <a:solidFill>
            <a:srgbClr val="4F46E5"/>
          </a:solidFill>
          <a:ln w="12700">
            <a:solidFill>
              <a:srgbClr val="4F46E5"/>
            </a:solidFill>
            <a:prstDash val="solid"/>
          </a:ln>
        </p:spPr>
      </p:sp>
      <p:sp>
        <p:nvSpPr>
          <p:cNvPr id="29" name="Text 27"/>
          <p:cNvSpPr txBox="1"/>
          <p:nvPr/>
        </p:nvSpPr>
        <p:spPr>
          <a:xfrm>
            <a:off x="804672" y="48006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8"/>
          <p:cNvSpPr txBox="1"/>
          <p:nvPr/>
        </p:nvSpPr>
        <p:spPr>
          <a:xfrm>
            <a:off x="1572768" y="4727448"/>
            <a:ext cx="3017520" cy="347472"/>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Load test</a:t>
            </a:r>
            <a:endParaRPr lang="en-US" sz="1600" dirty="0"/>
          </a:p>
        </p:txBody>
      </p:sp>
      <p:sp>
        <p:nvSpPr>
          <p:cNvPr id="31" name="Text 29"/>
          <p:cNvSpPr txBox="1"/>
          <p:nvPr/>
        </p:nvSpPr>
        <p:spPr>
          <a:xfrm>
            <a:off x="4572000" y="4745736"/>
            <a:ext cx="1188720" cy="292608"/>
          </a:xfrm>
          <a:prstGeom prst="rect">
            <a:avLst/>
          </a:prstGeom>
          <a:noFill/>
          <a:ln/>
        </p:spPr>
        <p:txBody>
          <a:bodyPr wrap="square" lIns="0" tIns="0" rIns="0" bIns="0" rtlCol="0" anchor="t"/>
          <a:lstStyle/>
          <a:p>
            <a:pPr algn="r" indent="0" marL="0">
              <a:buNone/>
            </a:pPr>
            <a:r>
              <a:rPr lang="en-US" sz="1200" b="1" dirty="0">
                <a:solidFill>
                  <a:srgbClr val="4F46E5"/>
                </a:solidFill>
                <a:latin typeface="Calibri" pitchFamily="34" charset="0"/>
                <a:ea typeface="Calibri" pitchFamily="34" charset="-122"/>
                <a:cs typeface="Calibri" pitchFamily="34" charset="-120"/>
              </a:rPr>
              <a:t>Half a day</a:t>
            </a:r>
            <a:endParaRPr lang="en-US" sz="1200" dirty="0"/>
          </a:p>
        </p:txBody>
      </p:sp>
      <p:sp>
        <p:nvSpPr>
          <p:cNvPr id="32" name="Text 30"/>
          <p:cNvSpPr txBox="1"/>
          <p:nvPr/>
        </p:nvSpPr>
        <p:spPr>
          <a:xfrm>
            <a:off x="1572768" y="5093208"/>
            <a:ext cx="420624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Measure how many messages per second it can handle</a:t>
            </a:r>
            <a:endParaRPr lang="en-US" sz="1200" dirty="0"/>
          </a:p>
        </p:txBody>
      </p:sp>
      <p:sp>
        <p:nvSpPr>
          <p:cNvPr id="33" name="Shape 31"/>
          <p:cNvSpPr/>
          <p:nvPr/>
        </p:nvSpPr>
        <p:spPr>
          <a:xfrm>
            <a:off x="6172200" y="4526280"/>
            <a:ext cx="5394960" cy="1417320"/>
          </a:xfrm>
          <a:prstGeom prst="roundRect">
            <a:avLst>
              <a:gd name="adj" fmla="val 7742"/>
            </a:avLst>
          </a:prstGeom>
          <a:solidFill>
            <a:srgbClr val="F4F6FB"/>
          </a:solidFill>
          <a:ln w="12700">
            <a:solidFill>
              <a:srgbClr val="F4F6FB"/>
            </a:solidFill>
            <a:prstDash val="solid"/>
          </a:ln>
        </p:spPr>
      </p:sp>
      <p:sp>
        <p:nvSpPr>
          <p:cNvPr id="34" name="Shape 32"/>
          <p:cNvSpPr/>
          <p:nvPr/>
        </p:nvSpPr>
        <p:spPr>
          <a:xfrm>
            <a:off x="6428232" y="4800600"/>
            <a:ext cx="566928" cy="566928"/>
          </a:xfrm>
          <a:prstGeom prst="ellipse">
            <a:avLst/>
          </a:prstGeom>
          <a:solidFill>
            <a:srgbClr val="4F46E5"/>
          </a:solidFill>
          <a:ln w="12700">
            <a:solidFill>
              <a:srgbClr val="4F46E5"/>
            </a:solidFill>
            <a:prstDash val="solid"/>
          </a:ln>
        </p:spPr>
      </p:sp>
      <p:sp>
        <p:nvSpPr>
          <p:cNvPr id="35" name="Text 33"/>
          <p:cNvSpPr txBox="1"/>
          <p:nvPr/>
        </p:nvSpPr>
        <p:spPr>
          <a:xfrm>
            <a:off x="6428232" y="48006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6" name="Text 34"/>
          <p:cNvSpPr txBox="1"/>
          <p:nvPr/>
        </p:nvSpPr>
        <p:spPr>
          <a:xfrm>
            <a:off x="7196328" y="4727448"/>
            <a:ext cx="3017520" cy="347472"/>
          </a:xfrm>
          <a:prstGeom prst="rect">
            <a:avLst/>
          </a:prstGeom>
          <a:noFill/>
          <a:ln/>
        </p:spPr>
        <p:txBody>
          <a:bodyPr wrap="square" lIns="0" tIns="0" rIns="0" bIns="0" rtlCol="0" anchor="t"/>
          <a:lstStyle/>
          <a:p>
            <a:pPr indent="0" marL="0">
              <a:buNone/>
            </a:pPr>
            <a:r>
              <a:rPr lang="en-US" sz="1600" b="1" dirty="0">
                <a:solidFill>
                  <a:srgbClr val="0E1726"/>
                </a:solidFill>
                <a:latin typeface="Calibri" pitchFamily="34" charset="0"/>
                <a:ea typeface="Calibri" pitchFamily="34" charset="-122"/>
                <a:cs typeface="Calibri" pitchFamily="34" charset="-120"/>
              </a:rPr>
              <a:t>Project report</a:t>
            </a:r>
            <a:endParaRPr lang="en-US" sz="1600" dirty="0"/>
          </a:p>
        </p:txBody>
      </p:sp>
      <p:sp>
        <p:nvSpPr>
          <p:cNvPr id="37" name="Text 35"/>
          <p:cNvSpPr txBox="1"/>
          <p:nvPr/>
        </p:nvSpPr>
        <p:spPr>
          <a:xfrm>
            <a:off x="10195560" y="4745736"/>
            <a:ext cx="1188720" cy="292608"/>
          </a:xfrm>
          <a:prstGeom prst="rect">
            <a:avLst/>
          </a:prstGeom>
          <a:noFill/>
          <a:ln/>
        </p:spPr>
        <p:txBody>
          <a:bodyPr wrap="square" lIns="0" tIns="0" rIns="0" bIns="0" rtlCol="0" anchor="t"/>
          <a:lstStyle/>
          <a:p>
            <a:pPr algn="r" indent="0" marL="0">
              <a:buNone/>
            </a:pPr>
            <a:r>
              <a:rPr lang="en-US" sz="1200" b="1" dirty="0">
                <a:solidFill>
                  <a:srgbClr val="4F46E5"/>
                </a:solidFill>
                <a:latin typeface="Calibri" pitchFamily="34" charset="0"/>
                <a:ea typeface="Calibri" pitchFamily="34" charset="-122"/>
                <a:cs typeface="Calibri" pitchFamily="34" charset="-120"/>
              </a:rPr>
              <a:t>1 day</a:t>
            </a:r>
            <a:endParaRPr lang="en-US" sz="1200" dirty="0"/>
          </a:p>
        </p:txBody>
      </p:sp>
      <p:sp>
        <p:nvSpPr>
          <p:cNvPr id="38" name="Text 36"/>
          <p:cNvSpPr txBox="1"/>
          <p:nvPr/>
        </p:nvSpPr>
        <p:spPr>
          <a:xfrm>
            <a:off x="7196328" y="5093208"/>
            <a:ext cx="4206240" cy="7315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A notebook with full error analysis</a:t>
            </a:r>
            <a:endParaRPr lang="en-US" sz="12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828800"/>
            <a:ext cx="10972800" cy="100584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3" name="Text 1"/>
          <p:cNvSpPr txBox="1"/>
          <p:nvPr/>
        </p:nvSpPr>
        <p:spPr>
          <a:xfrm>
            <a:off x="548640" y="2834640"/>
            <a:ext cx="10972800" cy="640080"/>
          </a:xfrm>
          <a:prstGeom prst="rect">
            <a:avLst/>
          </a:prstGeom>
          <a:noFill/>
          <a:ln/>
        </p:spPr>
        <p:txBody>
          <a:bodyPr wrap="square" lIns="0" tIns="0" rIns="0" bIns="0" rtlCol="0" anchor="t"/>
          <a:lstStyle/>
          <a:p>
            <a:pPr indent="0" marL="0">
              <a:buNone/>
            </a:pPr>
            <a:r>
              <a:rPr lang="en-US" sz="2600" dirty="0">
                <a:solidFill>
                  <a:srgbClr val="CBD5E1"/>
                </a:solidFill>
                <a:latin typeface="Calibri" pitchFamily="34" charset="0"/>
                <a:ea typeface="Calibri" pitchFamily="34" charset="-122"/>
                <a:cs typeface="Calibri" pitchFamily="34" charset="-120"/>
              </a:rPr>
              <a:t>Questions?</a:t>
            </a:r>
            <a:endParaRPr lang="en-US" sz="2600" dirty="0"/>
          </a:p>
        </p:txBody>
      </p:sp>
      <p:sp>
        <p:nvSpPr>
          <p:cNvPr id="4" name="Shape 2"/>
          <p:cNvSpPr/>
          <p:nvPr/>
        </p:nvSpPr>
        <p:spPr>
          <a:xfrm>
            <a:off x="548640" y="4114800"/>
            <a:ext cx="2606040" cy="1325880"/>
          </a:xfrm>
          <a:prstGeom prst="roundRect">
            <a:avLst>
              <a:gd name="adj" fmla="val 8276"/>
            </a:avLst>
          </a:prstGeom>
          <a:solidFill>
            <a:srgbClr val="151D30"/>
          </a:solidFill>
          <a:ln w="12700">
            <a:solidFill>
              <a:srgbClr val="243049"/>
            </a:solidFill>
            <a:prstDash val="solid"/>
          </a:ln>
        </p:spPr>
      </p:sp>
      <p:sp>
        <p:nvSpPr>
          <p:cNvPr id="5" name="Text 3"/>
          <p:cNvSpPr txBox="1"/>
          <p:nvPr/>
        </p:nvSpPr>
        <p:spPr>
          <a:xfrm>
            <a:off x="822960" y="4279392"/>
            <a:ext cx="2194560" cy="5486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97.3%</a:t>
            </a:r>
            <a:endParaRPr lang="en-US" sz="2800" dirty="0"/>
          </a:p>
        </p:txBody>
      </p:sp>
      <p:sp>
        <p:nvSpPr>
          <p:cNvPr id="6" name="Text 4"/>
          <p:cNvSpPr txBox="1"/>
          <p:nvPr/>
        </p:nvSpPr>
        <p:spPr>
          <a:xfrm>
            <a:off x="822960" y="4846320"/>
            <a:ext cx="2194560" cy="365760"/>
          </a:xfrm>
          <a:prstGeom prst="rect">
            <a:avLst/>
          </a:prstGeom>
          <a:noFill/>
          <a:ln/>
        </p:spPr>
        <p:txBody>
          <a:bodyPr wrap="square" lIns="0" tIns="0" rIns="0" bIns="0" rtlCol="0" anchor="t"/>
          <a:lstStyle/>
          <a:p>
            <a:pPr indent="0" marL="0">
              <a:buNone/>
            </a:pPr>
            <a:r>
              <a:rPr lang="en-US" sz="1400" dirty="0">
                <a:solidFill>
                  <a:srgbClr val="A5B4CC"/>
                </a:solidFill>
                <a:latin typeface="Calibri" pitchFamily="34" charset="0"/>
                <a:ea typeface="Calibri" pitchFamily="34" charset="-122"/>
                <a:cs typeface="Calibri" pitchFamily="34" charset="-120"/>
              </a:rPr>
              <a:t>right category</a:t>
            </a:r>
            <a:endParaRPr lang="en-US" sz="1400" dirty="0"/>
          </a:p>
        </p:txBody>
      </p:sp>
      <p:sp>
        <p:nvSpPr>
          <p:cNvPr id="7" name="Shape 5"/>
          <p:cNvSpPr/>
          <p:nvPr/>
        </p:nvSpPr>
        <p:spPr>
          <a:xfrm>
            <a:off x="3355848" y="4114800"/>
            <a:ext cx="2606040" cy="1325880"/>
          </a:xfrm>
          <a:prstGeom prst="roundRect">
            <a:avLst>
              <a:gd name="adj" fmla="val 8276"/>
            </a:avLst>
          </a:prstGeom>
          <a:solidFill>
            <a:srgbClr val="151D30"/>
          </a:solidFill>
          <a:ln w="12700">
            <a:solidFill>
              <a:srgbClr val="243049"/>
            </a:solidFill>
            <a:prstDash val="solid"/>
          </a:ln>
        </p:spPr>
      </p:sp>
      <p:sp>
        <p:nvSpPr>
          <p:cNvPr id="8" name="Text 6"/>
          <p:cNvSpPr txBox="1"/>
          <p:nvPr/>
        </p:nvSpPr>
        <p:spPr>
          <a:xfrm>
            <a:off x="3630168" y="4279392"/>
            <a:ext cx="2194560" cy="5486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230 / 240</a:t>
            </a:r>
            <a:endParaRPr lang="en-US" sz="2800" dirty="0"/>
          </a:p>
        </p:txBody>
      </p:sp>
      <p:sp>
        <p:nvSpPr>
          <p:cNvPr id="9" name="Text 7"/>
          <p:cNvSpPr txBox="1"/>
          <p:nvPr/>
        </p:nvSpPr>
        <p:spPr>
          <a:xfrm>
            <a:off x="3630168" y="4846320"/>
            <a:ext cx="2194560" cy="365760"/>
          </a:xfrm>
          <a:prstGeom prst="rect">
            <a:avLst/>
          </a:prstGeom>
          <a:noFill/>
          <a:ln/>
        </p:spPr>
        <p:txBody>
          <a:bodyPr wrap="square" lIns="0" tIns="0" rIns="0" bIns="0" rtlCol="0" anchor="t"/>
          <a:lstStyle/>
          <a:p>
            <a:pPr indent="0" marL="0">
              <a:buNone/>
            </a:pPr>
            <a:r>
              <a:rPr lang="en-US" sz="1400" dirty="0">
                <a:solidFill>
                  <a:srgbClr val="A5B4CC"/>
                </a:solidFill>
                <a:latin typeface="Calibri" pitchFamily="34" charset="0"/>
                <a:ea typeface="Calibri" pitchFamily="34" charset="-122"/>
                <a:cs typeface="Calibri" pitchFamily="34" charset="-120"/>
              </a:rPr>
              <a:t>fraud caught</a:t>
            </a:r>
            <a:endParaRPr lang="en-US" sz="1400" dirty="0"/>
          </a:p>
        </p:txBody>
      </p:sp>
      <p:sp>
        <p:nvSpPr>
          <p:cNvPr id="10" name="Shape 8"/>
          <p:cNvSpPr/>
          <p:nvPr/>
        </p:nvSpPr>
        <p:spPr>
          <a:xfrm>
            <a:off x="6163056" y="4114800"/>
            <a:ext cx="2606040" cy="1325880"/>
          </a:xfrm>
          <a:prstGeom prst="roundRect">
            <a:avLst>
              <a:gd name="adj" fmla="val 8276"/>
            </a:avLst>
          </a:prstGeom>
          <a:solidFill>
            <a:srgbClr val="151D30"/>
          </a:solidFill>
          <a:ln w="12700">
            <a:solidFill>
              <a:srgbClr val="243049"/>
            </a:solidFill>
            <a:prstDash val="solid"/>
          </a:ln>
        </p:spPr>
      </p:sp>
      <p:sp>
        <p:nvSpPr>
          <p:cNvPr id="11" name="Text 9"/>
          <p:cNvSpPr txBox="1"/>
          <p:nvPr/>
        </p:nvSpPr>
        <p:spPr>
          <a:xfrm>
            <a:off x="6437376" y="4279392"/>
            <a:ext cx="2194560" cy="5486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90.0%</a:t>
            </a:r>
            <a:endParaRPr lang="en-US" sz="2800" dirty="0"/>
          </a:p>
        </p:txBody>
      </p:sp>
      <p:sp>
        <p:nvSpPr>
          <p:cNvPr id="12" name="Text 10"/>
          <p:cNvSpPr txBox="1"/>
          <p:nvPr/>
        </p:nvSpPr>
        <p:spPr>
          <a:xfrm>
            <a:off x="6437376" y="4846320"/>
            <a:ext cx="2194560" cy="365760"/>
          </a:xfrm>
          <a:prstGeom prst="rect">
            <a:avLst/>
          </a:prstGeom>
          <a:noFill/>
          <a:ln/>
        </p:spPr>
        <p:txBody>
          <a:bodyPr wrap="square" lIns="0" tIns="0" rIns="0" bIns="0" rtlCol="0" anchor="t"/>
          <a:lstStyle/>
          <a:p>
            <a:pPr indent="0" marL="0">
              <a:buNone/>
            </a:pPr>
            <a:r>
              <a:rPr lang="en-US" sz="1400" dirty="0">
                <a:solidFill>
                  <a:srgbClr val="A5B4CC"/>
                </a:solidFill>
                <a:latin typeface="Calibri" pitchFamily="34" charset="0"/>
                <a:ea typeface="Calibri" pitchFamily="34" charset="-122"/>
                <a:cs typeface="Calibri" pitchFamily="34" charset="-120"/>
              </a:rPr>
              <a:t>exact topic of 83</a:t>
            </a:r>
            <a:endParaRPr lang="en-US" sz="1400" dirty="0"/>
          </a:p>
        </p:txBody>
      </p:sp>
      <p:sp>
        <p:nvSpPr>
          <p:cNvPr id="13" name="Shape 11"/>
          <p:cNvSpPr/>
          <p:nvPr/>
        </p:nvSpPr>
        <p:spPr>
          <a:xfrm>
            <a:off x="8970264" y="4114800"/>
            <a:ext cx="2606040" cy="1325880"/>
          </a:xfrm>
          <a:prstGeom prst="roundRect">
            <a:avLst>
              <a:gd name="adj" fmla="val 8276"/>
            </a:avLst>
          </a:prstGeom>
          <a:solidFill>
            <a:srgbClr val="151D30"/>
          </a:solidFill>
          <a:ln w="12700">
            <a:solidFill>
              <a:srgbClr val="243049"/>
            </a:solidFill>
            <a:prstDash val="solid"/>
          </a:ln>
        </p:spPr>
      </p:sp>
      <p:sp>
        <p:nvSpPr>
          <p:cNvPr id="14" name="Text 12"/>
          <p:cNvSpPr txBox="1"/>
          <p:nvPr/>
        </p:nvSpPr>
        <p:spPr>
          <a:xfrm>
            <a:off x="9244584" y="4279392"/>
            <a:ext cx="2194560" cy="5486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49</a:t>
            </a:r>
            <a:endParaRPr lang="en-US" sz="2800" dirty="0"/>
          </a:p>
        </p:txBody>
      </p:sp>
      <p:sp>
        <p:nvSpPr>
          <p:cNvPr id="15" name="Text 13"/>
          <p:cNvSpPr txBox="1"/>
          <p:nvPr/>
        </p:nvSpPr>
        <p:spPr>
          <a:xfrm>
            <a:off x="9244584" y="4846320"/>
            <a:ext cx="2194560" cy="365760"/>
          </a:xfrm>
          <a:prstGeom prst="rect">
            <a:avLst/>
          </a:prstGeom>
          <a:noFill/>
          <a:ln/>
        </p:spPr>
        <p:txBody>
          <a:bodyPr wrap="square" lIns="0" tIns="0" rIns="0" bIns="0" rtlCol="0" anchor="t"/>
          <a:lstStyle/>
          <a:p>
            <a:pPr indent="0" marL="0">
              <a:buNone/>
            </a:pPr>
            <a:r>
              <a:rPr lang="en-US" sz="1400" dirty="0">
                <a:solidFill>
                  <a:srgbClr val="A5B4CC"/>
                </a:solidFill>
                <a:latin typeface="Calibri" pitchFamily="34" charset="0"/>
                <a:ea typeface="Calibri" pitchFamily="34" charset="-122"/>
                <a:cs typeface="Calibri" pitchFamily="34" charset="-120"/>
              </a:rPr>
              <a:t>automated tests</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Routing Desk">
  <a:themeElements>
    <a:clrScheme name="Routing Desk">
      <a:dk1>
        <a:srgbClr val="0E1726"/>
      </a:dk1>
      <a:lt1>
        <a:srgbClr val="FFFFFF"/>
      </a:lt1>
      <a:dk2>
        <a:srgbClr val="0B1220"/>
      </a:dk2>
      <a:lt2>
        <a:srgbClr val="F4F6FB"/>
      </a:lt2>
      <a:accent1>
        <a:srgbClr val="4F46E5"/>
      </a:accent1>
      <a:accent2>
        <a:srgbClr val="00806A"/>
      </a:accent2>
      <a:accent3>
        <a:srgbClr val="2B4FD8"/>
      </a:accent3>
      <a:accent4>
        <a:srgbClr val="A86B12"/>
      </a:accent4>
      <a:accent5>
        <a:srgbClr val="7A3E9D"/>
      </a:accent5>
      <a:accent6>
        <a:srgbClr val="C81E33"/>
      </a:accent6>
      <a:hlink>
        <a:srgbClr val="4F46E5"/>
      </a:hlink>
      <a:folHlink>
        <a:srgbClr val="7A3E9D"/>
      </a:folHlink>
    </a:clrScheme>
    <a:fontScheme name="Routing De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Routing Desk</dc:title>
  <dc:subject>PptxGenJS Presentation</dc:subject>
  <dc:creator>PptxGenJS</dc:creator>
  <cp:lastModifiedBy>PptxGenJS</cp:lastModifiedBy>
  <cp:revision>1</cp:revision>
  <dcterms:created xsi:type="dcterms:W3CDTF">2026-10-27T02:48:05Z</dcterms:created>
  <dcterms:modified xsi:type="dcterms:W3CDTF">2026-10-27T02:48:05Z</dcterms:modified>
</cp:coreProperties>
</file>